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7" r:id="rId4"/>
    <p:sldId id="276" r:id="rId5"/>
    <p:sldId id="275" r:id="rId6"/>
    <p:sldId id="272" r:id="rId7"/>
    <p:sldId id="268" r:id="rId8"/>
    <p:sldId id="278" r:id="rId9"/>
    <p:sldId id="273" r:id="rId10"/>
    <p:sldId id="274" r:id="rId11"/>
    <p:sldId id="269" r:id="rId12"/>
    <p:sldId id="270" r:id="rId13"/>
    <p:sldId id="271" r:id="rId1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BC9A0"/>
    <a:srgbClr val="FAE5AA"/>
    <a:srgbClr val="F7CF54"/>
    <a:srgbClr val="DBBD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F1D235-5C87-87BF-D3FE-14B895CE3974}" v="152" dt="2025-05-15T23:17:43.07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73" autoAdjust="0"/>
    <p:restoredTop sz="94660"/>
  </p:normalViewPr>
  <p:slideViewPr>
    <p:cSldViewPr snapToGrid="0">
      <p:cViewPr varScale="1">
        <p:scale>
          <a:sx n="85" d="100"/>
          <a:sy n="85" d="100"/>
        </p:scale>
        <p:origin x="78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F9D-446A-4BA9-9A8F-8795C824CFA3}" type="datetimeFigureOut">
              <a:rPr lang="zh-TW" altLang="en-US" smtClean="0"/>
              <a:t>2025/9/4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4484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F9D-446A-4BA9-9A8F-8795C824CFA3}" type="datetimeFigureOut">
              <a:rPr lang="zh-TW" altLang="en-US" smtClean="0"/>
              <a:t>2025/9/4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2236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F9D-446A-4BA9-9A8F-8795C824CFA3}" type="datetimeFigureOut">
              <a:rPr lang="zh-TW" altLang="en-US" smtClean="0"/>
              <a:t>2025/9/4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4042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F9D-446A-4BA9-9A8F-8795C824CFA3}" type="datetimeFigureOut">
              <a:rPr lang="zh-TW" altLang="en-US" smtClean="0"/>
              <a:t>2025/9/4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97651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F9D-446A-4BA9-9A8F-8795C824CFA3}" type="datetimeFigureOut">
              <a:rPr lang="zh-TW" altLang="en-US" smtClean="0"/>
              <a:t>2025/9/4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44048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F9D-446A-4BA9-9A8F-8795C824CFA3}" type="datetimeFigureOut">
              <a:rPr lang="zh-TW" altLang="en-US" smtClean="0"/>
              <a:t>2025/9/4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64656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F9D-446A-4BA9-9A8F-8795C824CFA3}" type="datetimeFigureOut">
              <a:rPr lang="zh-TW" altLang="en-US" smtClean="0"/>
              <a:t>2025/9/4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0961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F9D-446A-4BA9-9A8F-8795C824CFA3}" type="datetimeFigureOut">
              <a:rPr lang="zh-TW" altLang="en-US" smtClean="0"/>
              <a:t>2025/9/4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1526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F9D-446A-4BA9-9A8F-8795C824CFA3}" type="datetimeFigureOut">
              <a:rPr lang="zh-TW" altLang="en-US" smtClean="0"/>
              <a:t>2025/9/4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22632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F9D-446A-4BA9-9A8F-8795C824CFA3}" type="datetimeFigureOut">
              <a:rPr lang="zh-TW" altLang="en-US" smtClean="0"/>
              <a:t>2025/9/4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045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F9D-446A-4BA9-9A8F-8795C824CFA3}" type="datetimeFigureOut">
              <a:rPr lang="zh-TW" altLang="en-US" smtClean="0"/>
              <a:t>2025/9/4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956514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75EF9D-446A-4BA9-9A8F-8795C824CFA3}" type="datetimeFigureOut">
              <a:rPr lang="zh-TW" altLang="en-US" smtClean="0"/>
              <a:t>2025/9/4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21134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onappetit.com/recipes/mexican" TargetMode="External"/><Relationship Id="rId2" Type="http://schemas.openxmlformats.org/officeDocument/2006/relationships/hyperlink" Target="https://www.mexicanplease.com/" TargetMode="External"/><Relationship Id="rId1" Type="http://schemas.openxmlformats.org/officeDocument/2006/relationships/slideLayout" Target="../slideLayouts/slideLayout8.xml"/><Relationship Id="rId5" Type="http://schemas.openxmlformats.org/officeDocument/2006/relationships/hyperlink" Target="https://www.foodtruckoperator.com/articles/6-tips-for-starting-a-mexican-food-truck" TargetMode="External"/><Relationship Id="rId4" Type="http://schemas.openxmlformats.org/officeDocument/2006/relationships/hyperlink" Target="https://tacofoodtruck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C9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5240576" cy="2980426"/>
          </a:xfrm>
        </p:spPr>
        <p:txBody>
          <a:bodyPr/>
          <a:lstStyle/>
          <a:p>
            <a:br>
              <a:rPr lang="zh-TW" altLang="en-US" sz="4000" dirty="0">
                <a:latin typeface="新細明體"/>
                <a:ea typeface="新細明體"/>
              </a:rPr>
            </a:br>
            <a:r>
              <a:rPr lang="zh-TW" sz="4000">
                <a:latin typeface="新細明體"/>
                <a:ea typeface="新細明體"/>
              </a:rPr>
              <a:t>創業概論專題報告</a:t>
            </a:r>
            <a:br>
              <a:rPr lang="zh-TW" altLang="en-US" sz="4000" dirty="0">
                <a:latin typeface="新細明體"/>
                <a:ea typeface="新細明體"/>
              </a:rPr>
            </a:br>
            <a:br>
              <a:rPr lang="zh-TW" altLang="en-US" sz="4000" dirty="0">
                <a:latin typeface="新細明體"/>
                <a:ea typeface="新細明體"/>
              </a:rPr>
            </a:br>
            <a:r>
              <a:rPr lang="zh-TW" altLang="en-US" sz="4800" b="1">
                <a:ea typeface="新細明體"/>
              </a:rPr>
              <a:t>墨西哥料理餐車</a:t>
            </a:r>
            <a:endParaRPr lang="zh-TW" altLang="en-US" sz="3600">
              <a:ea typeface="新細明體"/>
            </a:endParaRPr>
          </a:p>
        </p:txBody>
      </p:sp>
      <p:pic>
        <p:nvPicPr>
          <p:cNvPr id="4" name="圖片版面配置區 3" descr="Annual Spring Food Truck Festival at Bates April 27 - Escondido  Times-Advocate">
            <a:extLst>
              <a:ext uri="{FF2B5EF4-FFF2-40B4-BE49-F238E27FC236}">
                <a16:creationId xmlns:a16="http://schemas.microsoft.com/office/drawing/2014/main" id="{4EB69967-90D8-9FE2-AE6B-8E44913C6622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14112" r="14112"/>
          <a:stretch/>
        </p:blipFill>
        <p:spPr>
          <a:xfrm>
            <a:off x="6091648" y="999715"/>
            <a:ext cx="5669320" cy="48736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" name="副標題 2"/>
          <p:cNvSpPr>
            <a:spLocks noGrp="1"/>
          </p:cNvSpPr>
          <p:nvPr>
            <p:ph type="body" sz="half" idx="2"/>
          </p:nvPr>
        </p:nvSpPr>
        <p:spPr>
          <a:xfrm>
            <a:off x="839788" y="4163684"/>
            <a:ext cx="5240576" cy="170530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sz="2000" b="1">
                <a:latin typeface="新細明體"/>
                <a:ea typeface="新細明體"/>
                <a:cs typeface="+mn-lt"/>
              </a:rPr>
              <a:t>電資三 111820026 王奕傑</a:t>
            </a:r>
            <a:endParaRPr lang="zh-TW" sz="2000" b="1">
              <a:ea typeface="新細明體"/>
            </a:endParaRPr>
          </a:p>
          <a:p>
            <a:r>
              <a:rPr lang="zh-TW" altLang="en-US" sz="2000" b="1">
                <a:latin typeface="新細明體"/>
                <a:ea typeface="新細明體"/>
              </a:rPr>
              <a:t>電資三 111820035 黃晨恩</a:t>
            </a:r>
            <a:endParaRPr lang="zh-TW" altLang="en-US" sz="2000" b="1" dirty="0">
              <a:latin typeface="新細明體"/>
              <a:ea typeface="新細明體"/>
            </a:endParaRPr>
          </a:p>
          <a:p>
            <a:r>
              <a:rPr lang="zh-TW" altLang="en-US" sz="2000" b="1">
                <a:latin typeface="新細明體"/>
                <a:ea typeface="新細明體"/>
              </a:rPr>
              <a:t>指導老師：許再安</a:t>
            </a:r>
            <a:endParaRPr lang="zh-TW" altLang="en-US" sz="1800" b="1" dirty="0">
              <a:latin typeface="新細明體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592129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C9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0DA72DFE-007B-3A0E-CCAA-58AEFE7A3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zh-TW" altLang="en-US" sz="5400">
                <a:ea typeface="+mj-lt"/>
                <a:cs typeface="+mj-lt"/>
              </a:rPr>
              <a:t>目錄</a:t>
            </a: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6285349-3FC8-9EF7-4886-7A14449662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zh-TW" sz="2200">
                <a:ea typeface="+mn-lt"/>
                <a:cs typeface="+mn-lt"/>
              </a:rPr>
              <a:t>壹 創業動機</a:t>
            </a:r>
            <a:endParaRPr lang="zh-TW" altLang="en-US" sz="2200">
              <a:ea typeface="+mn-lt"/>
              <a:cs typeface="+mn-lt"/>
            </a:endParaRPr>
          </a:p>
          <a:p>
            <a:r>
              <a:rPr lang="zh-TW" sz="2200">
                <a:ea typeface="+mn-lt"/>
                <a:cs typeface="+mn-lt"/>
              </a:rPr>
              <a:t>貳 產品概念圖</a:t>
            </a:r>
          </a:p>
          <a:p>
            <a:r>
              <a:rPr lang="zh-TW" sz="2200">
                <a:ea typeface="+mn-lt"/>
                <a:cs typeface="+mn-lt"/>
              </a:rPr>
              <a:t>參 產品生命週期</a:t>
            </a:r>
          </a:p>
          <a:p>
            <a:r>
              <a:rPr lang="zh-TW" sz="2200">
                <a:ea typeface="+mn-lt"/>
                <a:cs typeface="+mn-lt"/>
              </a:rPr>
              <a:t>肆 特性要因分析</a:t>
            </a:r>
          </a:p>
          <a:p>
            <a:r>
              <a:rPr lang="zh-TW" sz="2200">
                <a:ea typeface="+mn-lt"/>
                <a:cs typeface="+mn-lt"/>
              </a:rPr>
              <a:t>伍 SWOT分析</a:t>
            </a:r>
          </a:p>
          <a:p>
            <a:r>
              <a:rPr lang="zh-TW" sz="2200">
                <a:ea typeface="+mn-lt"/>
                <a:cs typeface="+mn-lt"/>
              </a:rPr>
              <a:t>陸 結論</a:t>
            </a:r>
          </a:p>
          <a:p>
            <a:r>
              <a:rPr lang="zh-TW" sz="2200">
                <a:ea typeface="+mn-lt"/>
                <a:cs typeface="+mn-lt"/>
              </a:rPr>
              <a:t>柒 參考資料</a:t>
            </a:r>
          </a:p>
          <a:p>
            <a:endParaRPr lang="zh-TW" altLang="en-US" sz="2200">
              <a:ea typeface="新細明體"/>
            </a:endParaRPr>
          </a:p>
        </p:txBody>
      </p:sp>
      <p:pic>
        <p:nvPicPr>
          <p:cNvPr id="4" name="圖片 3" descr="一張含有 戶外, 天空, 輪, 人員 的圖片&#10;&#10;AI 產生的內容可能不正確。">
            <a:extLst>
              <a:ext uri="{FF2B5EF4-FFF2-40B4-BE49-F238E27FC236}">
                <a16:creationId xmlns:a16="http://schemas.microsoft.com/office/drawing/2014/main" id="{8237BA11-4849-891E-912B-55070B7ADC5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996" r="-1" b="6488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8008463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C9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E417FC-6A17-6651-A44F-E5618C3FE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圓角化同側角落 5">
            <a:extLst>
              <a:ext uri="{FF2B5EF4-FFF2-40B4-BE49-F238E27FC236}">
                <a16:creationId xmlns:a16="http://schemas.microsoft.com/office/drawing/2014/main" id="{FA6AF567-1F18-C4A7-1300-65627F3694AB}"/>
              </a:ext>
            </a:extLst>
          </p:cNvPr>
          <p:cNvSpPr/>
          <p:nvPr/>
        </p:nvSpPr>
        <p:spPr>
          <a:xfrm rot="5400000">
            <a:off x="-1816822" y="1804531"/>
            <a:ext cx="6876921" cy="3247179"/>
          </a:xfrm>
          <a:prstGeom prst="rect">
            <a:avLst/>
          </a:prstGeom>
          <a:solidFill>
            <a:srgbClr val="FAE5AA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8054CA6-3911-4234-AB9C-7C3209EBE949}"/>
              </a:ext>
            </a:extLst>
          </p:cNvPr>
          <p:cNvSpPr/>
          <p:nvPr/>
        </p:nvSpPr>
        <p:spPr>
          <a:xfrm>
            <a:off x="1064466" y="1906250"/>
            <a:ext cx="1126751" cy="363502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2BFCB533-388D-8A22-4975-CCBF25872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6" y="2458"/>
            <a:ext cx="3243979" cy="1600200"/>
          </a:xfrm>
        </p:spPr>
        <p:txBody>
          <a:bodyPr>
            <a:normAutofit/>
          </a:bodyPr>
          <a:lstStyle/>
          <a:p>
            <a:r>
              <a:rPr lang="zh-TW" altLang="en-US" sz="4000">
                <a:ea typeface="+mj-lt"/>
                <a:cs typeface="+mj-lt"/>
              </a:rPr>
              <a:t>壹</a:t>
            </a:r>
            <a:r>
              <a:rPr lang="zh-TW" sz="4000">
                <a:ea typeface="+mj-lt"/>
                <a:cs typeface="+mj-lt"/>
              </a:rPr>
              <a:t>、</a:t>
            </a:r>
            <a:br>
              <a:rPr lang="zh-TW" sz="4000" dirty="0">
                <a:ea typeface="+mj-lt"/>
                <a:cs typeface="+mj-lt"/>
              </a:rPr>
            </a:br>
            <a:r>
              <a:rPr lang="zh-TW" altLang="en-US" sz="4000">
                <a:ea typeface="+mj-lt"/>
                <a:cs typeface="+mj-lt"/>
              </a:rPr>
              <a:t>創業動機</a:t>
            </a:r>
            <a:endParaRPr lang="zh-TW" sz="400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4BEF9EC-6C50-8B83-1438-16D5174BB5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zh-TW">
                <a:ea typeface="+mn-lt"/>
                <a:cs typeface="+mn-lt"/>
              </a:rPr>
              <a:t>將異國風情與美食便利性結合， 為台灣消費者帶來熱情洋溢的墨西哥味道。</a:t>
            </a:r>
            <a:endParaRPr lang="zh-TW" altLang="en-US"/>
          </a:p>
        </p:txBody>
      </p:sp>
      <p:sp>
        <p:nvSpPr>
          <p:cNvPr id="7" name="文字版面配置區 3">
            <a:extLst>
              <a:ext uri="{FF2B5EF4-FFF2-40B4-BE49-F238E27FC236}">
                <a16:creationId xmlns:a16="http://schemas.microsoft.com/office/drawing/2014/main" id="{7DD74AC6-ECE7-A9F9-F246-7F413CC9DE69}"/>
              </a:ext>
            </a:extLst>
          </p:cNvPr>
          <p:cNvSpPr txBox="1">
            <a:spLocks/>
          </p:cNvSpPr>
          <p:nvPr/>
        </p:nvSpPr>
        <p:spPr>
          <a:xfrm>
            <a:off x="643143" y="1787013"/>
            <a:ext cx="1953496" cy="40696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TW" sz="2000" b="1">
                <a:solidFill>
                  <a:srgbClr val="000000"/>
                </a:solidFill>
                <a:latin typeface="Aptos"/>
                <a:ea typeface="新細明體"/>
              </a:rPr>
              <a:t>創業動機</a:t>
            </a:r>
            <a:endParaRPr lang="zh-TW"/>
          </a:p>
          <a:p>
            <a:pPr algn="ctr">
              <a:lnSpc>
                <a:spcPct val="150000"/>
              </a:lnSpc>
            </a:pPr>
            <a:r>
              <a:rPr lang="zh-TW" sz="2000" b="1">
                <a:latin typeface="Aptos"/>
                <a:ea typeface="新細明體"/>
              </a:rPr>
              <a:t>產品概念圖</a:t>
            </a:r>
          </a:p>
          <a:p>
            <a:pPr algn="ctr">
              <a:lnSpc>
                <a:spcPct val="150000"/>
              </a:lnSpc>
            </a:pPr>
            <a:r>
              <a:rPr lang="zh-TW" sz="2000" b="1">
                <a:latin typeface="Aptos"/>
                <a:ea typeface="新細明體"/>
              </a:rPr>
              <a:t>產品生命週期</a:t>
            </a:r>
          </a:p>
          <a:p>
            <a:pPr algn="ctr">
              <a:lnSpc>
                <a:spcPct val="150000"/>
              </a:lnSpc>
            </a:pPr>
            <a:r>
              <a:rPr lang="zh-TW" sz="2000" b="1">
                <a:latin typeface="Aptos"/>
                <a:ea typeface="新細明體"/>
              </a:rPr>
              <a:t>特性要因分析</a:t>
            </a:r>
          </a:p>
          <a:p>
            <a:pPr algn="ctr">
              <a:lnSpc>
                <a:spcPct val="150000"/>
              </a:lnSpc>
            </a:pPr>
            <a:r>
              <a:rPr lang="zh-TW" sz="2000" b="1">
                <a:latin typeface="Aptos"/>
                <a:ea typeface="新細明體"/>
              </a:rPr>
              <a:t>SWOT分析</a:t>
            </a:r>
          </a:p>
          <a:p>
            <a:pPr algn="ctr">
              <a:lnSpc>
                <a:spcPct val="150000"/>
              </a:lnSpc>
            </a:pPr>
            <a:r>
              <a:rPr lang="zh-TW" sz="2000" b="1">
                <a:latin typeface="Aptos"/>
                <a:ea typeface="新細明體"/>
              </a:rPr>
              <a:t>結論</a:t>
            </a:r>
          </a:p>
          <a:p>
            <a:pPr algn="ctr">
              <a:lnSpc>
                <a:spcPct val="150000"/>
              </a:lnSpc>
            </a:pPr>
            <a:r>
              <a:rPr lang="zh-TW" sz="2000" b="1">
                <a:latin typeface="Aptos"/>
                <a:ea typeface="新細明體"/>
              </a:rPr>
              <a:t>參考資料</a:t>
            </a:r>
          </a:p>
          <a:p>
            <a:endParaRPr lang="zh-TW" altLang="en-US" dirty="0"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061236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C9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98581D-4BC7-AB49-6F58-A7443009F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圓角化同側角落 5">
            <a:extLst>
              <a:ext uri="{FF2B5EF4-FFF2-40B4-BE49-F238E27FC236}">
                <a16:creationId xmlns:a16="http://schemas.microsoft.com/office/drawing/2014/main" id="{B6D3797D-E9B1-EBEB-2440-8FE69D2CAF92}"/>
              </a:ext>
            </a:extLst>
          </p:cNvPr>
          <p:cNvSpPr/>
          <p:nvPr/>
        </p:nvSpPr>
        <p:spPr>
          <a:xfrm rot="5400000">
            <a:off x="-1816822" y="1804531"/>
            <a:ext cx="6876921" cy="3247179"/>
          </a:xfrm>
          <a:prstGeom prst="rect">
            <a:avLst/>
          </a:prstGeom>
          <a:solidFill>
            <a:srgbClr val="FAE5AA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8FBBA00-849D-7CA7-48C1-B4A0D7F95C8C}"/>
              </a:ext>
            </a:extLst>
          </p:cNvPr>
          <p:cNvSpPr/>
          <p:nvPr/>
        </p:nvSpPr>
        <p:spPr>
          <a:xfrm>
            <a:off x="926150" y="2517060"/>
            <a:ext cx="1391092" cy="387887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66B0CAD6-F569-2B8E-D7AD-D39B328AC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6" y="2458"/>
            <a:ext cx="3243979" cy="1600200"/>
          </a:xfrm>
        </p:spPr>
        <p:txBody>
          <a:bodyPr>
            <a:normAutofit/>
          </a:bodyPr>
          <a:lstStyle/>
          <a:p>
            <a:r>
              <a:rPr lang="zh-TW" altLang="en-US" sz="4000">
                <a:ea typeface="+mj-lt"/>
                <a:cs typeface="+mj-lt"/>
              </a:rPr>
              <a:t>貳</a:t>
            </a:r>
            <a:r>
              <a:rPr lang="zh-TW" sz="4000">
                <a:ea typeface="+mj-lt"/>
                <a:cs typeface="+mj-lt"/>
              </a:rPr>
              <a:t>、</a:t>
            </a:r>
            <a:br>
              <a:rPr lang="zh-TW" sz="4000" dirty="0">
                <a:ea typeface="+mj-lt"/>
                <a:cs typeface="+mj-lt"/>
              </a:rPr>
            </a:br>
            <a:r>
              <a:rPr lang="zh-TW" sz="4000">
                <a:ea typeface="+mj-lt"/>
                <a:cs typeface="+mj-lt"/>
              </a:rPr>
              <a:t>產品</a:t>
            </a:r>
            <a:r>
              <a:rPr lang="zh-TW" altLang="en-US" sz="4000">
                <a:ea typeface="+mj-lt"/>
                <a:cs typeface="+mj-lt"/>
              </a:rPr>
              <a:t>概念圖</a:t>
            </a:r>
            <a:endParaRPr lang="zh-TW" altLang="en-US" sz="4000" dirty="0">
              <a:ea typeface="+mj-lt"/>
              <a:cs typeface="+mj-lt"/>
            </a:endParaRPr>
          </a:p>
        </p:txBody>
      </p:sp>
      <p:sp>
        <p:nvSpPr>
          <p:cNvPr id="7" name="文字版面配置區 3">
            <a:extLst>
              <a:ext uri="{FF2B5EF4-FFF2-40B4-BE49-F238E27FC236}">
                <a16:creationId xmlns:a16="http://schemas.microsoft.com/office/drawing/2014/main" id="{29CC2A38-B4DC-E799-D37C-B3838D7FA207}"/>
              </a:ext>
            </a:extLst>
          </p:cNvPr>
          <p:cNvSpPr txBox="1">
            <a:spLocks/>
          </p:cNvSpPr>
          <p:nvPr/>
        </p:nvSpPr>
        <p:spPr>
          <a:xfrm>
            <a:off x="643143" y="1787013"/>
            <a:ext cx="1953496" cy="40696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TW" sz="2000" b="1">
                <a:solidFill>
                  <a:srgbClr val="000000"/>
                </a:solidFill>
                <a:latin typeface="Aptos"/>
                <a:ea typeface="新細明體"/>
              </a:rPr>
              <a:t>創業動機</a:t>
            </a:r>
            <a:endParaRPr lang="zh-TW"/>
          </a:p>
          <a:p>
            <a:pPr algn="ctr">
              <a:lnSpc>
                <a:spcPct val="150000"/>
              </a:lnSpc>
            </a:pPr>
            <a:r>
              <a:rPr lang="zh-TW" sz="2000" b="1">
                <a:latin typeface="Aptos"/>
                <a:ea typeface="新細明體"/>
              </a:rPr>
              <a:t>產品概念圖</a:t>
            </a:r>
          </a:p>
          <a:p>
            <a:pPr algn="ctr">
              <a:lnSpc>
                <a:spcPct val="150000"/>
              </a:lnSpc>
            </a:pPr>
            <a:r>
              <a:rPr lang="zh-TW" sz="2000" b="1">
                <a:latin typeface="Aptos"/>
                <a:ea typeface="新細明體"/>
              </a:rPr>
              <a:t>產品生命週期</a:t>
            </a:r>
          </a:p>
          <a:p>
            <a:pPr algn="ctr">
              <a:lnSpc>
                <a:spcPct val="150000"/>
              </a:lnSpc>
            </a:pPr>
            <a:r>
              <a:rPr lang="zh-TW" sz="2000" b="1">
                <a:latin typeface="Aptos"/>
                <a:ea typeface="新細明體"/>
              </a:rPr>
              <a:t>特性要因分析</a:t>
            </a:r>
          </a:p>
          <a:p>
            <a:pPr algn="ctr">
              <a:lnSpc>
                <a:spcPct val="150000"/>
              </a:lnSpc>
            </a:pPr>
            <a:r>
              <a:rPr lang="zh-TW" sz="2000" b="1">
                <a:latin typeface="Aptos"/>
                <a:ea typeface="新細明體"/>
              </a:rPr>
              <a:t>SWOT分析</a:t>
            </a:r>
          </a:p>
          <a:p>
            <a:pPr algn="ctr">
              <a:lnSpc>
                <a:spcPct val="150000"/>
              </a:lnSpc>
            </a:pPr>
            <a:r>
              <a:rPr lang="zh-TW" sz="2000" b="1">
                <a:latin typeface="Aptos"/>
                <a:ea typeface="新細明體"/>
              </a:rPr>
              <a:t>結論</a:t>
            </a:r>
          </a:p>
          <a:p>
            <a:pPr algn="ctr">
              <a:lnSpc>
                <a:spcPct val="150000"/>
              </a:lnSpc>
            </a:pPr>
            <a:r>
              <a:rPr lang="zh-TW" sz="2000" b="1">
                <a:latin typeface="Aptos"/>
                <a:ea typeface="新細明體"/>
              </a:rPr>
              <a:t>參考資料</a:t>
            </a:r>
          </a:p>
          <a:p>
            <a:endParaRPr lang="zh-TW" altLang="en-US" dirty="0">
              <a:ea typeface="新細明體"/>
            </a:endParaRPr>
          </a:p>
        </p:txBody>
      </p:sp>
      <p:pic>
        <p:nvPicPr>
          <p:cNvPr id="4" name="內容版面配置區 5" descr="The Rooster Truck Has the Breakfast Burrito of Your Dreams">
            <a:extLst>
              <a:ext uri="{FF2B5EF4-FFF2-40B4-BE49-F238E27FC236}">
                <a16:creationId xmlns:a16="http://schemas.microsoft.com/office/drawing/2014/main" id="{2A2E7C93-5FFE-BF3E-FCBE-54D26F92B7A2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232" y="3425567"/>
            <a:ext cx="4926391" cy="286391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" name="圖片 7" descr="Burrito Bowl has just rolled into Florida, ready to spice up your meals! 🌯  This 12ft trailer is cooking up fresh, flavorful bowls! Dive into a world  of deliciousness served straight from">
            <a:extLst>
              <a:ext uri="{FF2B5EF4-FFF2-40B4-BE49-F238E27FC236}">
                <a16:creationId xmlns:a16="http://schemas.microsoft.com/office/drawing/2014/main" id="{23D01A89-B32A-608C-0165-8F39432943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878" y="568429"/>
            <a:ext cx="4932437" cy="286666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文字方塊 7">
            <a:extLst>
              <a:ext uri="{FF2B5EF4-FFF2-40B4-BE49-F238E27FC236}">
                <a16:creationId xmlns:a16="http://schemas.microsoft.com/office/drawing/2014/main" id="{5E3B3AAB-A555-DDB3-0BEA-B55E442BD682}"/>
              </a:ext>
            </a:extLst>
          </p:cNvPr>
          <p:cNvSpPr txBox="1"/>
          <p:nvPr/>
        </p:nvSpPr>
        <p:spPr>
          <a:xfrm>
            <a:off x="9465280" y="2359328"/>
            <a:ext cx="2731104" cy="1077218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TW" altLang="en-US" sz="1600" b="1">
                <a:latin typeface="Aptos"/>
                <a:ea typeface="新細明體"/>
              </a:rPr>
              <a:t>圖片出處：</a:t>
            </a:r>
            <a:r>
              <a:rPr lang="zh-TW" sz="1600">
                <a:ea typeface="+mn-lt"/>
                <a:cs typeface="+mn-lt"/>
              </a:rPr>
              <a:t>https://www.instagram.com/phoenixfoodtrucksandtrailers/p/C56xsu2vsq_</a:t>
            </a:r>
            <a:endParaRPr lang="zh-TW" sz="1600">
              <a:latin typeface="Aptos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841744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C9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19C956-9BB6-4491-2427-5B07B5265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圓角化同側角落 5">
            <a:extLst>
              <a:ext uri="{FF2B5EF4-FFF2-40B4-BE49-F238E27FC236}">
                <a16:creationId xmlns:a16="http://schemas.microsoft.com/office/drawing/2014/main" id="{193026A2-4CA7-F1CF-0CA2-E97B8220C247}"/>
              </a:ext>
            </a:extLst>
          </p:cNvPr>
          <p:cNvSpPr/>
          <p:nvPr/>
        </p:nvSpPr>
        <p:spPr>
          <a:xfrm rot="5400000">
            <a:off x="-1816822" y="1804531"/>
            <a:ext cx="6876921" cy="3247179"/>
          </a:xfrm>
          <a:prstGeom prst="rect">
            <a:avLst/>
          </a:prstGeom>
          <a:solidFill>
            <a:srgbClr val="FAE5AA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F093B02-9985-2244-9061-91C6BE4DDDEF}"/>
              </a:ext>
            </a:extLst>
          </p:cNvPr>
          <p:cNvSpPr/>
          <p:nvPr/>
        </p:nvSpPr>
        <p:spPr>
          <a:xfrm>
            <a:off x="732627" y="3049250"/>
            <a:ext cx="1778138" cy="375792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DF24536D-BE7B-F31C-E2B2-07F6608E5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6" y="2458"/>
            <a:ext cx="3243979" cy="1600200"/>
          </a:xfrm>
        </p:spPr>
        <p:txBody>
          <a:bodyPr>
            <a:normAutofit/>
          </a:bodyPr>
          <a:lstStyle/>
          <a:p>
            <a:r>
              <a:rPr lang="zh-TW" sz="4000">
                <a:ea typeface="+mj-lt"/>
                <a:cs typeface="+mj-lt"/>
              </a:rPr>
              <a:t>參、</a:t>
            </a:r>
            <a:br>
              <a:rPr lang="zh-TW" sz="4000" dirty="0">
                <a:ea typeface="+mj-lt"/>
                <a:cs typeface="+mj-lt"/>
              </a:rPr>
            </a:br>
            <a:r>
              <a:rPr lang="zh-TW" sz="4000">
                <a:ea typeface="+mj-lt"/>
                <a:cs typeface="+mj-lt"/>
              </a:rPr>
              <a:t>產品生命週期</a:t>
            </a:r>
            <a:endParaRPr lang="zh-TW"/>
          </a:p>
        </p:txBody>
      </p:sp>
      <p:pic>
        <p:nvPicPr>
          <p:cNvPr id="11" name="內容版面配置區 10" descr="產品生命週期，如何延續？以iPhone為例，企業這樣找「衝刺新品的最佳時機」－聊聊商業思維｜商周">
            <a:extLst>
              <a:ext uri="{FF2B5EF4-FFF2-40B4-BE49-F238E27FC236}">
                <a16:creationId xmlns:a16="http://schemas.microsoft.com/office/drawing/2014/main" id="{95C2349B-BDC6-E6C5-69A5-7E938AFA49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23289" y="732783"/>
            <a:ext cx="7407377" cy="3524437"/>
          </a:xfrm>
        </p:spPr>
      </p:pic>
      <p:sp>
        <p:nvSpPr>
          <p:cNvPr id="7" name="文字版面配置區 3">
            <a:extLst>
              <a:ext uri="{FF2B5EF4-FFF2-40B4-BE49-F238E27FC236}">
                <a16:creationId xmlns:a16="http://schemas.microsoft.com/office/drawing/2014/main" id="{9C25F33C-A975-AE77-1B4B-5E42D913A2F7}"/>
              </a:ext>
            </a:extLst>
          </p:cNvPr>
          <p:cNvSpPr txBox="1">
            <a:spLocks/>
          </p:cNvSpPr>
          <p:nvPr/>
        </p:nvSpPr>
        <p:spPr>
          <a:xfrm>
            <a:off x="643143" y="1787013"/>
            <a:ext cx="1953496" cy="40696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TW" sz="2000" b="1">
                <a:solidFill>
                  <a:srgbClr val="000000"/>
                </a:solidFill>
                <a:latin typeface="Aptos"/>
                <a:ea typeface="新細明體"/>
              </a:rPr>
              <a:t>創業動機</a:t>
            </a:r>
            <a:endParaRPr lang="zh-TW"/>
          </a:p>
          <a:p>
            <a:pPr algn="ctr">
              <a:lnSpc>
                <a:spcPct val="150000"/>
              </a:lnSpc>
            </a:pPr>
            <a:r>
              <a:rPr lang="zh-TW" sz="2000" b="1">
                <a:latin typeface="Aptos"/>
                <a:ea typeface="新細明體"/>
              </a:rPr>
              <a:t>產品概念圖</a:t>
            </a:r>
          </a:p>
          <a:p>
            <a:pPr algn="ctr">
              <a:lnSpc>
                <a:spcPct val="150000"/>
              </a:lnSpc>
            </a:pPr>
            <a:r>
              <a:rPr lang="zh-TW" sz="2000" b="1">
                <a:latin typeface="Aptos"/>
                <a:ea typeface="新細明體"/>
              </a:rPr>
              <a:t>產品生命週期</a:t>
            </a:r>
          </a:p>
          <a:p>
            <a:pPr algn="ctr">
              <a:lnSpc>
                <a:spcPct val="150000"/>
              </a:lnSpc>
            </a:pPr>
            <a:r>
              <a:rPr lang="zh-TW" sz="2000" b="1">
                <a:latin typeface="Aptos"/>
                <a:ea typeface="新細明體"/>
              </a:rPr>
              <a:t>特性要因分析</a:t>
            </a:r>
          </a:p>
          <a:p>
            <a:pPr algn="ctr">
              <a:lnSpc>
                <a:spcPct val="150000"/>
              </a:lnSpc>
            </a:pPr>
            <a:r>
              <a:rPr lang="zh-TW" sz="2000" b="1">
                <a:latin typeface="Aptos"/>
                <a:ea typeface="新細明體"/>
              </a:rPr>
              <a:t>SWOT分析</a:t>
            </a:r>
          </a:p>
          <a:p>
            <a:pPr algn="ctr">
              <a:lnSpc>
                <a:spcPct val="150000"/>
              </a:lnSpc>
            </a:pPr>
            <a:r>
              <a:rPr lang="zh-TW" sz="2000" b="1">
                <a:latin typeface="Aptos"/>
                <a:ea typeface="新細明體"/>
              </a:rPr>
              <a:t>結論</a:t>
            </a:r>
          </a:p>
          <a:p>
            <a:pPr algn="ctr">
              <a:lnSpc>
                <a:spcPct val="150000"/>
              </a:lnSpc>
            </a:pPr>
            <a:r>
              <a:rPr lang="zh-TW" sz="2000" b="1">
                <a:latin typeface="Aptos"/>
                <a:ea typeface="新細明體"/>
              </a:rPr>
              <a:t>參考資料</a:t>
            </a:r>
          </a:p>
          <a:p>
            <a:endParaRPr lang="zh-TW" altLang="en-US" dirty="0">
              <a:ea typeface="新細明體"/>
            </a:endParaRPr>
          </a:p>
        </p:txBody>
      </p:sp>
      <p:sp>
        <p:nvSpPr>
          <p:cNvPr id="8" name="圖說文字: 向下箭號 7">
            <a:extLst>
              <a:ext uri="{FF2B5EF4-FFF2-40B4-BE49-F238E27FC236}">
                <a16:creationId xmlns:a16="http://schemas.microsoft.com/office/drawing/2014/main" id="{8AF42A90-8E81-5B92-0E00-1D89685754CA}"/>
              </a:ext>
            </a:extLst>
          </p:cNvPr>
          <p:cNvSpPr/>
          <p:nvPr/>
        </p:nvSpPr>
        <p:spPr>
          <a:xfrm>
            <a:off x="5702198" y="1404745"/>
            <a:ext cx="1761688" cy="1132513"/>
          </a:xfrm>
          <a:prstGeom prst="downArrowCallou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9C053F61-EA4C-8A46-94B3-C963A8F1EB81}"/>
              </a:ext>
            </a:extLst>
          </p:cNvPr>
          <p:cNvSpPr txBox="1"/>
          <p:nvPr/>
        </p:nvSpPr>
        <p:spPr>
          <a:xfrm>
            <a:off x="5704989" y="1540945"/>
            <a:ext cx="175382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zh-TW" altLang="en-US" sz="2800" b="1">
                <a:ea typeface="新細明體"/>
              </a:rPr>
              <a:t>市場現況</a:t>
            </a:r>
            <a:endParaRPr lang="zh-TW" altLang="en-US" sz="2800" b="1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BEA460DC-2ED1-65DD-0B36-E745F6828D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6086928"/>
              </p:ext>
            </p:extLst>
          </p:nvPr>
        </p:nvGraphicFramePr>
        <p:xfrm>
          <a:off x="4020910" y="4299857"/>
          <a:ext cx="7406624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1656">
                  <a:extLst>
                    <a:ext uri="{9D8B030D-6E8A-4147-A177-3AD203B41FA5}">
                      <a16:colId xmlns:a16="http://schemas.microsoft.com/office/drawing/2014/main" val="3410267090"/>
                    </a:ext>
                  </a:extLst>
                </a:gridCol>
                <a:gridCol w="1851656">
                  <a:extLst>
                    <a:ext uri="{9D8B030D-6E8A-4147-A177-3AD203B41FA5}">
                      <a16:colId xmlns:a16="http://schemas.microsoft.com/office/drawing/2014/main" val="113940089"/>
                    </a:ext>
                  </a:extLst>
                </a:gridCol>
                <a:gridCol w="1851656">
                  <a:extLst>
                    <a:ext uri="{9D8B030D-6E8A-4147-A177-3AD203B41FA5}">
                      <a16:colId xmlns:a16="http://schemas.microsoft.com/office/drawing/2014/main" val="4095730064"/>
                    </a:ext>
                  </a:extLst>
                </a:gridCol>
                <a:gridCol w="1851656">
                  <a:extLst>
                    <a:ext uri="{9D8B030D-6E8A-4147-A177-3AD203B41FA5}">
                      <a16:colId xmlns:a16="http://schemas.microsoft.com/office/drawing/2014/main" val="1176928494"/>
                    </a:ext>
                  </a:extLst>
                </a:gridCol>
              </a:tblGrid>
              <a:tr h="36058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TW" sz="1800" b="0" i="0" u="none" strike="noStrike" noProof="0">
                          <a:latin typeface="新細明體"/>
                          <a:ea typeface="新細明體"/>
                        </a:rPr>
                        <a:t>導入期</a:t>
                      </a:r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/>
                        <a:t>成長期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/>
                        <a:t>成熟期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/>
                        <a:t>衰退期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05997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 b="0" i="0" u="none" strike="noStrike" noProof="0"/>
                        <a:t>餐車初期以「創意市集、夜市活動」出現，風格新穎吸引注意。</a:t>
                      </a:r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800" b="0" i="0" u="none" strike="noStrike" noProof="0"/>
                        <a:t>餐車進駐各</a:t>
                      </a:r>
                      <a:r>
                        <a:rPr lang="zh-TW" sz="1800" b="0" i="0" u="none" strike="noStrike" noProof="0"/>
                        <a:t>大</a:t>
                      </a:r>
                      <a:r>
                        <a:rPr lang="zh-TW" altLang="en-US" sz="1800" b="0" i="0" u="none" strike="noStrike" noProof="0"/>
                        <a:t>市集</a:t>
                      </a:r>
                      <a:r>
                        <a:rPr lang="zh-TW" sz="1800" b="0" i="0" u="none" strike="noStrike" noProof="0"/>
                        <a:t>、</a:t>
                      </a:r>
                      <a:r>
                        <a:rPr lang="zh-TW" altLang="en-US" sz="1800" b="0" i="0" u="none" strike="noStrike" noProof="0"/>
                        <a:t>商圈</a:t>
                      </a:r>
                      <a:r>
                        <a:rPr lang="zh-TW" sz="1800" b="0" i="0" u="none" strike="noStrike" noProof="0"/>
                        <a:t>、</a:t>
                      </a:r>
                      <a:r>
                        <a:rPr lang="zh-TW" altLang="en-US" sz="1800" b="0" i="0" u="none" strike="noStrike" noProof="0"/>
                        <a:t>校園。</a:t>
                      </a:r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TW" sz="1800" b="0" i="0" u="none" strike="noStrike" noProof="0">
                          <a:latin typeface="新細明體"/>
                          <a:ea typeface="新細明體"/>
                        </a:rPr>
                        <a:t>餐車逐漸固定地點、建立忠誠顧客。</a:t>
                      </a:r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 b="0" i="0" u="none" strike="noStrike" noProof="0">
                          <a:latin typeface="新細明體"/>
                          <a:ea typeface="新細明體"/>
                        </a:rPr>
                        <a:t>經營創新與轉型、開發新產品線、市場策略重新定位、考慮轉為實體店面</a:t>
                      </a:r>
                      <a:r>
                        <a:rPr lang="zh-TW" altLang="en-US" sz="1800" b="0" i="0" u="none" strike="noStrike" noProof="0">
                          <a:latin typeface="新細明體"/>
                          <a:ea typeface="新細明體"/>
                        </a:rPr>
                        <a:t>。</a:t>
                      </a:r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86267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59543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C9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132D13-871D-BB6D-D21A-9929E016E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圓角化同側角落 5">
            <a:extLst>
              <a:ext uri="{FF2B5EF4-FFF2-40B4-BE49-F238E27FC236}">
                <a16:creationId xmlns:a16="http://schemas.microsoft.com/office/drawing/2014/main" id="{ED946853-B223-DAA7-937A-45312E55F633}"/>
              </a:ext>
            </a:extLst>
          </p:cNvPr>
          <p:cNvSpPr/>
          <p:nvPr/>
        </p:nvSpPr>
        <p:spPr>
          <a:xfrm rot="5400000">
            <a:off x="-1816822" y="1804531"/>
            <a:ext cx="6876921" cy="3247179"/>
          </a:xfrm>
          <a:prstGeom prst="rect">
            <a:avLst/>
          </a:prstGeom>
          <a:solidFill>
            <a:srgbClr val="FAE5AA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437AC2B-F5CE-E7E8-3D2F-9E1D72106591}"/>
              </a:ext>
            </a:extLst>
          </p:cNvPr>
          <p:cNvSpPr/>
          <p:nvPr/>
        </p:nvSpPr>
        <p:spPr>
          <a:xfrm>
            <a:off x="732627" y="3639185"/>
            <a:ext cx="1778138" cy="375792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6EB93F94-815F-26E8-9B50-443B05B41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6" y="2458"/>
            <a:ext cx="3243979" cy="1600200"/>
          </a:xfrm>
        </p:spPr>
        <p:txBody>
          <a:bodyPr>
            <a:normAutofit/>
          </a:bodyPr>
          <a:lstStyle/>
          <a:p>
            <a:r>
              <a:rPr lang="zh-TW" altLang="en-US" sz="4000">
                <a:ea typeface="+mj-lt"/>
                <a:cs typeface="+mj-lt"/>
              </a:rPr>
              <a:t>肆、</a:t>
            </a:r>
            <a:br>
              <a:rPr lang="zh-TW" altLang="en-US" sz="4000" dirty="0">
                <a:ea typeface="+mj-lt"/>
                <a:cs typeface="+mj-lt"/>
              </a:rPr>
            </a:br>
            <a:r>
              <a:rPr lang="zh-TW" altLang="en-US" sz="4000">
                <a:ea typeface="+mj-lt"/>
                <a:cs typeface="+mj-lt"/>
              </a:rPr>
              <a:t>特性要因分析</a:t>
            </a:r>
            <a:endParaRPr lang="zh-TW"/>
          </a:p>
        </p:txBody>
      </p:sp>
      <p:sp>
        <p:nvSpPr>
          <p:cNvPr id="7" name="文字版面配置區 3">
            <a:extLst>
              <a:ext uri="{FF2B5EF4-FFF2-40B4-BE49-F238E27FC236}">
                <a16:creationId xmlns:a16="http://schemas.microsoft.com/office/drawing/2014/main" id="{96EB9F86-FCCB-90B8-F24E-F97C9D1753BD}"/>
              </a:ext>
            </a:extLst>
          </p:cNvPr>
          <p:cNvSpPr txBox="1">
            <a:spLocks/>
          </p:cNvSpPr>
          <p:nvPr/>
        </p:nvSpPr>
        <p:spPr>
          <a:xfrm>
            <a:off x="643143" y="1787013"/>
            <a:ext cx="1953496" cy="40696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TW" sz="2000" b="1">
                <a:solidFill>
                  <a:srgbClr val="000000"/>
                </a:solidFill>
                <a:latin typeface="Aptos"/>
                <a:ea typeface="新細明體"/>
              </a:rPr>
              <a:t>創業動機</a:t>
            </a:r>
            <a:endParaRPr lang="zh-TW"/>
          </a:p>
          <a:p>
            <a:pPr algn="ctr">
              <a:lnSpc>
                <a:spcPct val="150000"/>
              </a:lnSpc>
            </a:pPr>
            <a:r>
              <a:rPr lang="zh-TW" sz="2000" b="1">
                <a:latin typeface="Aptos"/>
                <a:ea typeface="新細明體"/>
              </a:rPr>
              <a:t>產品概念圖</a:t>
            </a:r>
          </a:p>
          <a:p>
            <a:pPr algn="ctr">
              <a:lnSpc>
                <a:spcPct val="150000"/>
              </a:lnSpc>
            </a:pPr>
            <a:r>
              <a:rPr lang="zh-TW" sz="2000" b="1">
                <a:latin typeface="Aptos"/>
                <a:ea typeface="新細明體"/>
              </a:rPr>
              <a:t>產品生命週期</a:t>
            </a:r>
          </a:p>
          <a:p>
            <a:pPr algn="ctr">
              <a:lnSpc>
                <a:spcPct val="150000"/>
              </a:lnSpc>
            </a:pPr>
            <a:r>
              <a:rPr lang="zh-TW" sz="2000" b="1">
                <a:latin typeface="Aptos"/>
                <a:ea typeface="新細明體"/>
              </a:rPr>
              <a:t>特性要因分析</a:t>
            </a:r>
          </a:p>
          <a:p>
            <a:pPr algn="ctr">
              <a:lnSpc>
                <a:spcPct val="150000"/>
              </a:lnSpc>
            </a:pPr>
            <a:r>
              <a:rPr lang="zh-TW" sz="2000" b="1">
                <a:latin typeface="Aptos"/>
                <a:ea typeface="新細明體"/>
              </a:rPr>
              <a:t>SWOT分析</a:t>
            </a:r>
          </a:p>
          <a:p>
            <a:pPr algn="ctr">
              <a:lnSpc>
                <a:spcPct val="150000"/>
              </a:lnSpc>
            </a:pPr>
            <a:r>
              <a:rPr lang="zh-TW" sz="2000" b="1">
                <a:latin typeface="Aptos"/>
                <a:ea typeface="新細明體"/>
              </a:rPr>
              <a:t>結論</a:t>
            </a:r>
          </a:p>
          <a:p>
            <a:pPr algn="ctr">
              <a:lnSpc>
                <a:spcPct val="150000"/>
              </a:lnSpc>
            </a:pPr>
            <a:r>
              <a:rPr lang="zh-TW" sz="2000" b="1">
                <a:latin typeface="Aptos"/>
                <a:ea typeface="新細明體"/>
              </a:rPr>
              <a:t>參考資料</a:t>
            </a:r>
          </a:p>
          <a:p>
            <a:endParaRPr lang="zh-TW" altLang="en-US" dirty="0">
              <a:ea typeface="新細明體"/>
            </a:endParaRPr>
          </a:p>
        </p:txBody>
      </p:sp>
      <p:pic>
        <p:nvPicPr>
          <p:cNvPr id="9" name="內容版面配置區 8" descr="一張含有 文字, 螢幕擷取畫面, 圖表, 方案 的圖片&#10;&#10;AI 產生的內容可能不正確。">
            <a:extLst>
              <a:ext uri="{FF2B5EF4-FFF2-40B4-BE49-F238E27FC236}">
                <a16:creationId xmlns:a16="http://schemas.microsoft.com/office/drawing/2014/main" id="{CB652651-6111-FD5C-6826-68821BE180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36833" y="1103752"/>
            <a:ext cx="7057103" cy="4640969"/>
          </a:xfrm>
        </p:spPr>
      </p:pic>
    </p:spTree>
    <p:extLst>
      <p:ext uri="{BB962C8B-B14F-4D97-AF65-F5344CB8AC3E}">
        <p14:creationId xmlns:p14="http://schemas.microsoft.com/office/powerpoint/2010/main" val="15898415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C9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0CB04E-6D6E-710D-5ABE-D287BDB5C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圓角化同側角落 5">
            <a:extLst>
              <a:ext uri="{FF2B5EF4-FFF2-40B4-BE49-F238E27FC236}">
                <a16:creationId xmlns:a16="http://schemas.microsoft.com/office/drawing/2014/main" id="{9A29AE8A-40F3-643D-4007-C5A4700FBC91}"/>
              </a:ext>
            </a:extLst>
          </p:cNvPr>
          <p:cNvSpPr/>
          <p:nvPr/>
        </p:nvSpPr>
        <p:spPr>
          <a:xfrm rot="5400000">
            <a:off x="-1816822" y="1804531"/>
            <a:ext cx="6876921" cy="3247179"/>
          </a:xfrm>
          <a:prstGeom prst="rect">
            <a:avLst/>
          </a:prstGeom>
          <a:solidFill>
            <a:srgbClr val="FAE5AA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A5BE223-EF52-970C-A099-841BDA28A761}"/>
              </a:ext>
            </a:extLst>
          </p:cNvPr>
          <p:cNvSpPr/>
          <p:nvPr/>
        </p:nvSpPr>
        <p:spPr>
          <a:xfrm>
            <a:off x="732627" y="3639185"/>
            <a:ext cx="1778138" cy="375792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37338C5E-AE2B-CA74-0E41-9047AE1DD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6" y="2458"/>
            <a:ext cx="3243979" cy="1600200"/>
          </a:xfrm>
        </p:spPr>
        <p:txBody>
          <a:bodyPr>
            <a:normAutofit/>
          </a:bodyPr>
          <a:lstStyle/>
          <a:p>
            <a:r>
              <a:rPr lang="zh-TW" altLang="en-US" sz="4000">
                <a:ea typeface="+mj-lt"/>
                <a:cs typeface="+mj-lt"/>
              </a:rPr>
              <a:t>肆、</a:t>
            </a:r>
            <a:br>
              <a:rPr lang="zh-TW" altLang="en-US" sz="4000" dirty="0">
                <a:ea typeface="+mj-lt"/>
                <a:cs typeface="+mj-lt"/>
              </a:rPr>
            </a:br>
            <a:r>
              <a:rPr lang="zh-TW" altLang="en-US" sz="4000">
                <a:ea typeface="+mj-lt"/>
                <a:cs typeface="+mj-lt"/>
              </a:rPr>
              <a:t>特性要因分析</a:t>
            </a:r>
            <a:endParaRPr lang="zh-TW"/>
          </a:p>
        </p:txBody>
      </p:sp>
      <p:sp>
        <p:nvSpPr>
          <p:cNvPr id="7" name="文字版面配置區 3">
            <a:extLst>
              <a:ext uri="{FF2B5EF4-FFF2-40B4-BE49-F238E27FC236}">
                <a16:creationId xmlns:a16="http://schemas.microsoft.com/office/drawing/2014/main" id="{6136222D-F019-EB2E-86D1-3B87CEA99113}"/>
              </a:ext>
            </a:extLst>
          </p:cNvPr>
          <p:cNvSpPr txBox="1">
            <a:spLocks/>
          </p:cNvSpPr>
          <p:nvPr/>
        </p:nvSpPr>
        <p:spPr>
          <a:xfrm>
            <a:off x="643143" y="1787013"/>
            <a:ext cx="1953496" cy="40696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TW" sz="2000" b="1">
                <a:solidFill>
                  <a:srgbClr val="000000"/>
                </a:solidFill>
                <a:latin typeface="Aptos"/>
                <a:ea typeface="新細明體"/>
              </a:rPr>
              <a:t>創業動機</a:t>
            </a:r>
            <a:endParaRPr lang="zh-TW"/>
          </a:p>
          <a:p>
            <a:pPr algn="ctr">
              <a:lnSpc>
                <a:spcPct val="150000"/>
              </a:lnSpc>
            </a:pPr>
            <a:r>
              <a:rPr lang="zh-TW" sz="2000" b="1">
                <a:latin typeface="Aptos"/>
                <a:ea typeface="新細明體"/>
              </a:rPr>
              <a:t>產品概念圖</a:t>
            </a:r>
          </a:p>
          <a:p>
            <a:pPr algn="ctr">
              <a:lnSpc>
                <a:spcPct val="150000"/>
              </a:lnSpc>
            </a:pPr>
            <a:r>
              <a:rPr lang="zh-TW" sz="2000" b="1">
                <a:latin typeface="Aptos"/>
                <a:ea typeface="新細明體"/>
              </a:rPr>
              <a:t>產品生命週期</a:t>
            </a:r>
          </a:p>
          <a:p>
            <a:pPr algn="ctr">
              <a:lnSpc>
                <a:spcPct val="150000"/>
              </a:lnSpc>
            </a:pPr>
            <a:r>
              <a:rPr lang="zh-TW" sz="2000" b="1">
                <a:latin typeface="Aptos"/>
                <a:ea typeface="新細明體"/>
              </a:rPr>
              <a:t>特性要因分析</a:t>
            </a:r>
          </a:p>
          <a:p>
            <a:pPr algn="ctr">
              <a:lnSpc>
                <a:spcPct val="150000"/>
              </a:lnSpc>
            </a:pPr>
            <a:r>
              <a:rPr lang="zh-TW" sz="2000" b="1">
                <a:latin typeface="Aptos"/>
                <a:ea typeface="新細明體"/>
              </a:rPr>
              <a:t>SWOT分析</a:t>
            </a:r>
          </a:p>
          <a:p>
            <a:pPr algn="ctr">
              <a:lnSpc>
                <a:spcPct val="150000"/>
              </a:lnSpc>
            </a:pPr>
            <a:r>
              <a:rPr lang="zh-TW" sz="2000" b="1">
                <a:latin typeface="Aptos"/>
                <a:ea typeface="新細明體"/>
              </a:rPr>
              <a:t>結論</a:t>
            </a:r>
          </a:p>
          <a:p>
            <a:pPr algn="ctr">
              <a:lnSpc>
                <a:spcPct val="150000"/>
              </a:lnSpc>
            </a:pPr>
            <a:r>
              <a:rPr lang="zh-TW" sz="2000" b="1">
                <a:latin typeface="Aptos"/>
                <a:ea typeface="新細明體"/>
              </a:rPr>
              <a:t>參考資料</a:t>
            </a:r>
          </a:p>
          <a:p>
            <a:endParaRPr lang="zh-TW" altLang="en-US" dirty="0">
              <a:ea typeface="新細明體"/>
            </a:endParaRPr>
          </a:p>
        </p:txBody>
      </p:sp>
      <p:pic>
        <p:nvPicPr>
          <p:cNvPr id="10" name="內容版面配置區 8" descr="一張含有 文字, 螢幕擷取畫面, 圖表, 方案 的圖片&#10;&#10;AI 產生的內容可能不正確。">
            <a:extLst>
              <a:ext uri="{FF2B5EF4-FFF2-40B4-BE49-F238E27FC236}">
                <a16:creationId xmlns:a16="http://schemas.microsoft.com/office/drawing/2014/main" id="{88652644-3CD3-83C3-F39A-BFD5F97186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3511" y="1573"/>
            <a:ext cx="2532729" cy="1606577"/>
          </a:xfrm>
          <a:prstGeom prst="rect">
            <a:avLst/>
          </a:prstGeom>
        </p:spPr>
      </p:pic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064582F1-A4D6-F5AA-5E6F-A3106FBED5CA}"/>
              </a:ext>
            </a:extLst>
          </p:cNvPr>
          <p:cNvSpPr/>
          <p:nvPr/>
        </p:nvSpPr>
        <p:spPr>
          <a:xfrm>
            <a:off x="3476623" y="-1"/>
            <a:ext cx="952501" cy="802821"/>
          </a:xfrm>
          <a:prstGeom prst="round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9" name="內容版面配置區 8" descr="一張含有 文字, 螢幕擷取畫面, 圖表, 字型 的圖片&#10;&#10;AI 產生的內容可能不正確。">
            <a:extLst>
              <a:ext uri="{FF2B5EF4-FFF2-40B4-BE49-F238E27FC236}">
                <a16:creationId xmlns:a16="http://schemas.microsoft.com/office/drawing/2014/main" id="{AE02626F-F6E2-919A-5CEB-77BFA285E8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28" t="45" r="173"/>
          <a:stretch>
            <a:fillRect/>
          </a:stretch>
        </p:blipFill>
        <p:spPr>
          <a:xfrm>
            <a:off x="4509202" y="1611390"/>
            <a:ext cx="7091996" cy="4432729"/>
          </a:xfrm>
        </p:spPr>
      </p:pic>
    </p:spTree>
    <p:extLst>
      <p:ext uri="{BB962C8B-B14F-4D97-AF65-F5344CB8AC3E}">
        <p14:creationId xmlns:p14="http://schemas.microsoft.com/office/powerpoint/2010/main" val="2342308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C9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C146BB-4812-931D-702D-5920AD5B4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圓角化同側角落 5">
            <a:extLst>
              <a:ext uri="{FF2B5EF4-FFF2-40B4-BE49-F238E27FC236}">
                <a16:creationId xmlns:a16="http://schemas.microsoft.com/office/drawing/2014/main" id="{AE23B49D-EBCD-E97D-AB52-67C52373D05E}"/>
              </a:ext>
            </a:extLst>
          </p:cNvPr>
          <p:cNvSpPr/>
          <p:nvPr/>
        </p:nvSpPr>
        <p:spPr>
          <a:xfrm rot="5400000">
            <a:off x="-1816822" y="1804531"/>
            <a:ext cx="6876921" cy="3247179"/>
          </a:xfrm>
          <a:prstGeom prst="rect">
            <a:avLst/>
          </a:prstGeom>
          <a:solidFill>
            <a:srgbClr val="FAE5AA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D25BA3C-E3AD-3745-A63D-E0A117EBCB58}"/>
              </a:ext>
            </a:extLst>
          </p:cNvPr>
          <p:cNvSpPr/>
          <p:nvPr/>
        </p:nvSpPr>
        <p:spPr>
          <a:xfrm>
            <a:off x="732627" y="3639185"/>
            <a:ext cx="1778138" cy="375792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CE509E24-E8B1-ED26-C9DE-D97C5925F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6" y="2458"/>
            <a:ext cx="3243979" cy="1600200"/>
          </a:xfrm>
        </p:spPr>
        <p:txBody>
          <a:bodyPr>
            <a:normAutofit/>
          </a:bodyPr>
          <a:lstStyle/>
          <a:p>
            <a:r>
              <a:rPr lang="zh-TW" altLang="en-US" sz="4000">
                <a:ea typeface="+mj-lt"/>
                <a:cs typeface="+mj-lt"/>
              </a:rPr>
              <a:t>肆、</a:t>
            </a:r>
            <a:br>
              <a:rPr lang="zh-TW" altLang="en-US" sz="4000" dirty="0">
                <a:ea typeface="+mj-lt"/>
                <a:cs typeface="+mj-lt"/>
              </a:rPr>
            </a:br>
            <a:r>
              <a:rPr lang="zh-TW" altLang="en-US" sz="4000">
                <a:ea typeface="+mj-lt"/>
                <a:cs typeface="+mj-lt"/>
              </a:rPr>
              <a:t>特性要因分析</a:t>
            </a:r>
            <a:endParaRPr lang="zh-TW"/>
          </a:p>
        </p:txBody>
      </p:sp>
      <p:pic>
        <p:nvPicPr>
          <p:cNvPr id="4" name="內容版面配置區 3" descr="一張含有 文字, 螢幕擷取畫面, 圖表, 字型 的圖片&#10;&#10;AI 產生的內容可能不正確。">
            <a:extLst>
              <a:ext uri="{FF2B5EF4-FFF2-40B4-BE49-F238E27FC236}">
                <a16:creationId xmlns:a16="http://schemas.microsoft.com/office/drawing/2014/main" id="{AA882310-F6D1-824F-82D6-7C53116FE4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07220" y="1596097"/>
            <a:ext cx="7290619" cy="4449004"/>
          </a:xfrm>
        </p:spPr>
      </p:pic>
      <p:sp>
        <p:nvSpPr>
          <p:cNvPr id="7" name="文字版面配置區 3">
            <a:extLst>
              <a:ext uri="{FF2B5EF4-FFF2-40B4-BE49-F238E27FC236}">
                <a16:creationId xmlns:a16="http://schemas.microsoft.com/office/drawing/2014/main" id="{AFAD3D9A-6D0F-971D-723A-0F82D6EC1FF6}"/>
              </a:ext>
            </a:extLst>
          </p:cNvPr>
          <p:cNvSpPr txBox="1">
            <a:spLocks/>
          </p:cNvSpPr>
          <p:nvPr/>
        </p:nvSpPr>
        <p:spPr>
          <a:xfrm>
            <a:off x="643143" y="1787013"/>
            <a:ext cx="1953496" cy="40696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TW" sz="2000" b="1">
                <a:solidFill>
                  <a:srgbClr val="000000"/>
                </a:solidFill>
                <a:latin typeface="Aptos"/>
                <a:ea typeface="新細明體"/>
              </a:rPr>
              <a:t>創業動機</a:t>
            </a:r>
            <a:endParaRPr lang="zh-TW"/>
          </a:p>
          <a:p>
            <a:pPr algn="ctr">
              <a:lnSpc>
                <a:spcPct val="150000"/>
              </a:lnSpc>
            </a:pPr>
            <a:r>
              <a:rPr lang="zh-TW" sz="2000" b="1">
                <a:latin typeface="Aptos"/>
                <a:ea typeface="新細明體"/>
              </a:rPr>
              <a:t>產品概念圖</a:t>
            </a:r>
          </a:p>
          <a:p>
            <a:pPr algn="ctr">
              <a:lnSpc>
                <a:spcPct val="150000"/>
              </a:lnSpc>
            </a:pPr>
            <a:r>
              <a:rPr lang="zh-TW" sz="2000" b="1">
                <a:latin typeface="Aptos"/>
                <a:ea typeface="新細明體"/>
              </a:rPr>
              <a:t>產品生命週期</a:t>
            </a:r>
          </a:p>
          <a:p>
            <a:pPr algn="ctr">
              <a:lnSpc>
                <a:spcPct val="150000"/>
              </a:lnSpc>
            </a:pPr>
            <a:r>
              <a:rPr lang="zh-TW" sz="2000" b="1">
                <a:latin typeface="Aptos"/>
                <a:ea typeface="新細明體"/>
              </a:rPr>
              <a:t>特性要因分析</a:t>
            </a:r>
          </a:p>
          <a:p>
            <a:pPr algn="ctr">
              <a:lnSpc>
                <a:spcPct val="150000"/>
              </a:lnSpc>
            </a:pPr>
            <a:r>
              <a:rPr lang="zh-TW" sz="2000" b="1">
                <a:latin typeface="Aptos"/>
                <a:ea typeface="新細明體"/>
              </a:rPr>
              <a:t>SWOT分析</a:t>
            </a:r>
          </a:p>
          <a:p>
            <a:pPr algn="ctr">
              <a:lnSpc>
                <a:spcPct val="150000"/>
              </a:lnSpc>
            </a:pPr>
            <a:r>
              <a:rPr lang="zh-TW" sz="2000" b="1">
                <a:latin typeface="Aptos"/>
                <a:ea typeface="新細明體"/>
              </a:rPr>
              <a:t>結論</a:t>
            </a:r>
          </a:p>
          <a:p>
            <a:pPr algn="ctr">
              <a:lnSpc>
                <a:spcPct val="150000"/>
              </a:lnSpc>
            </a:pPr>
            <a:r>
              <a:rPr lang="zh-TW" sz="2000" b="1">
                <a:latin typeface="Aptos"/>
                <a:ea typeface="新細明體"/>
              </a:rPr>
              <a:t>參考資料</a:t>
            </a:r>
          </a:p>
          <a:p>
            <a:endParaRPr lang="zh-TW" altLang="en-US" dirty="0">
              <a:ea typeface="新細明體"/>
            </a:endParaRPr>
          </a:p>
        </p:txBody>
      </p:sp>
      <p:pic>
        <p:nvPicPr>
          <p:cNvPr id="10" name="內容版面配置區 8" descr="一張含有 文字, 螢幕擷取畫面, 圖表, 方案 的圖片&#10;&#10;AI 產生的內容可能不正確。">
            <a:extLst>
              <a:ext uri="{FF2B5EF4-FFF2-40B4-BE49-F238E27FC236}">
                <a16:creationId xmlns:a16="http://schemas.microsoft.com/office/drawing/2014/main" id="{F4996344-9EBF-683D-5100-80F143CC09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3511" y="1573"/>
            <a:ext cx="2532729" cy="1606577"/>
          </a:xfrm>
          <a:prstGeom prst="rect">
            <a:avLst/>
          </a:prstGeom>
        </p:spPr>
      </p:pic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33A44A03-297F-7B4B-89CB-E6759F7D804F}"/>
              </a:ext>
            </a:extLst>
          </p:cNvPr>
          <p:cNvSpPr/>
          <p:nvPr/>
        </p:nvSpPr>
        <p:spPr>
          <a:xfrm>
            <a:off x="4184194" y="-13608"/>
            <a:ext cx="952501" cy="802821"/>
          </a:xfrm>
          <a:prstGeom prst="round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590133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C9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996FFB-4770-F7FF-DE63-04D53CF83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圓角化同側角落 5">
            <a:extLst>
              <a:ext uri="{FF2B5EF4-FFF2-40B4-BE49-F238E27FC236}">
                <a16:creationId xmlns:a16="http://schemas.microsoft.com/office/drawing/2014/main" id="{744BAF52-6C06-47A9-0F69-B80733C39E6E}"/>
              </a:ext>
            </a:extLst>
          </p:cNvPr>
          <p:cNvSpPr/>
          <p:nvPr/>
        </p:nvSpPr>
        <p:spPr>
          <a:xfrm rot="5400000">
            <a:off x="-1816822" y="1804531"/>
            <a:ext cx="6876921" cy="3247179"/>
          </a:xfrm>
          <a:prstGeom prst="rect">
            <a:avLst/>
          </a:prstGeom>
          <a:solidFill>
            <a:srgbClr val="FAE5AA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F9EA0FC-8746-2D8D-651A-D03C7194F968}"/>
              </a:ext>
            </a:extLst>
          </p:cNvPr>
          <p:cNvSpPr/>
          <p:nvPr/>
        </p:nvSpPr>
        <p:spPr>
          <a:xfrm>
            <a:off x="732627" y="3639185"/>
            <a:ext cx="1778138" cy="375792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E37D5F26-6AA0-C295-8F46-042085AB0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6" y="2458"/>
            <a:ext cx="3243979" cy="1600200"/>
          </a:xfrm>
        </p:spPr>
        <p:txBody>
          <a:bodyPr>
            <a:normAutofit/>
          </a:bodyPr>
          <a:lstStyle/>
          <a:p>
            <a:r>
              <a:rPr lang="zh-TW" altLang="en-US" sz="4000">
                <a:ea typeface="+mj-lt"/>
                <a:cs typeface="+mj-lt"/>
              </a:rPr>
              <a:t>肆、</a:t>
            </a:r>
            <a:br>
              <a:rPr lang="zh-TW" altLang="en-US" sz="4000" dirty="0">
                <a:ea typeface="+mj-lt"/>
                <a:cs typeface="+mj-lt"/>
              </a:rPr>
            </a:br>
            <a:r>
              <a:rPr lang="zh-TW" altLang="en-US" sz="4000">
                <a:ea typeface="+mj-lt"/>
                <a:cs typeface="+mj-lt"/>
              </a:rPr>
              <a:t>特性要因分析</a:t>
            </a:r>
            <a:endParaRPr lang="zh-TW"/>
          </a:p>
        </p:txBody>
      </p:sp>
      <p:pic>
        <p:nvPicPr>
          <p:cNvPr id="4" name="內容版面配置區 3" descr="一張含有 文字, 螢幕擷取畫面, 圖表, 字型 的圖片&#10;&#10;AI 產生的內容可能不正確。">
            <a:extLst>
              <a:ext uri="{FF2B5EF4-FFF2-40B4-BE49-F238E27FC236}">
                <a16:creationId xmlns:a16="http://schemas.microsoft.com/office/drawing/2014/main" id="{2039F3DD-1BE3-281A-7E2C-D2BE270025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09634" y="1790386"/>
            <a:ext cx="6947807" cy="4070523"/>
          </a:xfrm>
        </p:spPr>
      </p:pic>
      <p:sp>
        <p:nvSpPr>
          <p:cNvPr id="7" name="文字版面配置區 3">
            <a:extLst>
              <a:ext uri="{FF2B5EF4-FFF2-40B4-BE49-F238E27FC236}">
                <a16:creationId xmlns:a16="http://schemas.microsoft.com/office/drawing/2014/main" id="{E2E03516-E3B3-F878-5971-46985697DBC8}"/>
              </a:ext>
            </a:extLst>
          </p:cNvPr>
          <p:cNvSpPr txBox="1">
            <a:spLocks/>
          </p:cNvSpPr>
          <p:nvPr/>
        </p:nvSpPr>
        <p:spPr>
          <a:xfrm>
            <a:off x="643143" y="1787013"/>
            <a:ext cx="1953496" cy="40696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TW" sz="2000" b="1">
                <a:solidFill>
                  <a:srgbClr val="000000"/>
                </a:solidFill>
                <a:latin typeface="Aptos"/>
                <a:ea typeface="新細明體"/>
              </a:rPr>
              <a:t>創業動機</a:t>
            </a:r>
            <a:endParaRPr lang="zh-TW"/>
          </a:p>
          <a:p>
            <a:pPr algn="ctr">
              <a:lnSpc>
                <a:spcPct val="150000"/>
              </a:lnSpc>
            </a:pPr>
            <a:r>
              <a:rPr lang="zh-TW" sz="2000" b="1">
                <a:latin typeface="Aptos"/>
                <a:ea typeface="新細明體"/>
              </a:rPr>
              <a:t>產品概念圖</a:t>
            </a:r>
          </a:p>
          <a:p>
            <a:pPr algn="ctr">
              <a:lnSpc>
                <a:spcPct val="150000"/>
              </a:lnSpc>
            </a:pPr>
            <a:r>
              <a:rPr lang="zh-TW" sz="2000" b="1">
                <a:latin typeface="Aptos"/>
                <a:ea typeface="新細明體"/>
              </a:rPr>
              <a:t>產品生命週期</a:t>
            </a:r>
          </a:p>
          <a:p>
            <a:pPr algn="ctr">
              <a:lnSpc>
                <a:spcPct val="150000"/>
              </a:lnSpc>
            </a:pPr>
            <a:r>
              <a:rPr lang="zh-TW" sz="2000" b="1">
                <a:latin typeface="Aptos"/>
                <a:ea typeface="新細明體"/>
              </a:rPr>
              <a:t>特性要因分析</a:t>
            </a:r>
          </a:p>
          <a:p>
            <a:pPr algn="ctr">
              <a:lnSpc>
                <a:spcPct val="150000"/>
              </a:lnSpc>
            </a:pPr>
            <a:r>
              <a:rPr lang="zh-TW" sz="2000" b="1">
                <a:latin typeface="Aptos"/>
                <a:ea typeface="新細明體"/>
              </a:rPr>
              <a:t>SWOT分析</a:t>
            </a:r>
          </a:p>
          <a:p>
            <a:pPr algn="ctr">
              <a:lnSpc>
                <a:spcPct val="150000"/>
              </a:lnSpc>
            </a:pPr>
            <a:r>
              <a:rPr lang="zh-TW" sz="2000" b="1">
                <a:latin typeface="Aptos"/>
                <a:ea typeface="新細明體"/>
              </a:rPr>
              <a:t>結論</a:t>
            </a:r>
          </a:p>
          <a:p>
            <a:pPr algn="ctr">
              <a:lnSpc>
                <a:spcPct val="150000"/>
              </a:lnSpc>
            </a:pPr>
            <a:r>
              <a:rPr lang="zh-TW" sz="2000" b="1">
                <a:latin typeface="Aptos"/>
                <a:ea typeface="新細明體"/>
              </a:rPr>
              <a:t>參考資料</a:t>
            </a:r>
          </a:p>
          <a:p>
            <a:endParaRPr lang="zh-TW" altLang="en-US" dirty="0">
              <a:ea typeface="新細明體"/>
            </a:endParaRPr>
          </a:p>
        </p:txBody>
      </p:sp>
      <p:pic>
        <p:nvPicPr>
          <p:cNvPr id="10" name="內容版面配置區 8" descr="一張含有 文字, 螢幕擷取畫面, 圖表, 方案 的圖片&#10;&#10;AI 產生的內容可能不正確。">
            <a:extLst>
              <a:ext uri="{FF2B5EF4-FFF2-40B4-BE49-F238E27FC236}">
                <a16:creationId xmlns:a16="http://schemas.microsoft.com/office/drawing/2014/main" id="{EC1BBE14-26C5-7E62-97B2-BFD93356AF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3511" y="1573"/>
            <a:ext cx="2532729" cy="1606577"/>
          </a:xfrm>
          <a:prstGeom prst="rect">
            <a:avLst/>
          </a:prstGeom>
        </p:spPr>
      </p:pic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58791536-8C0A-5CE4-0D43-62C85F3D2B61}"/>
              </a:ext>
            </a:extLst>
          </p:cNvPr>
          <p:cNvSpPr/>
          <p:nvPr/>
        </p:nvSpPr>
        <p:spPr>
          <a:xfrm>
            <a:off x="3463016" y="802820"/>
            <a:ext cx="952501" cy="802821"/>
          </a:xfrm>
          <a:prstGeom prst="round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3042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C9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FFF59A-DCFF-C7A3-3236-58C532530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圓角化同側角落 5">
            <a:extLst>
              <a:ext uri="{FF2B5EF4-FFF2-40B4-BE49-F238E27FC236}">
                <a16:creationId xmlns:a16="http://schemas.microsoft.com/office/drawing/2014/main" id="{B855E2EC-D874-4819-9D27-78B8EF945590}"/>
              </a:ext>
            </a:extLst>
          </p:cNvPr>
          <p:cNvSpPr/>
          <p:nvPr/>
        </p:nvSpPr>
        <p:spPr>
          <a:xfrm rot="5400000">
            <a:off x="-1816822" y="1804531"/>
            <a:ext cx="6876921" cy="3247179"/>
          </a:xfrm>
          <a:prstGeom prst="rect">
            <a:avLst/>
          </a:prstGeom>
          <a:solidFill>
            <a:srgbClr val="FAE5AA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0EC7361-D169-6E3C-3D6A-615589FFCF0B}"/>
              </a:ext>
            </a:extLst>
          </p:cNvPr>
          <p:cNvSpPr/>
          <p:nvPr/>
        </p:nvSpPr>
        <p:spPr>
          <a:xfrm>
            <a:off x="732627" y="3639185"/>
            <a:ext cx="1778138" cy="375792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52CA7C8A-A5C2-C9E0-830D-EDB9A1A06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6" y="2458"/>
            <a:ext cx="3243979" cy="1600200"/>
          </a:xfrm>
        </p:spPr>
        <p:txBody>
          <a:bodyPr>
            <a:normAutofit/>
          </a:bodyPr>
          <a:lstStyle/>
          <a:p>
            <a:r>
              <a:rPr lang="zh-TW" altLang="en-US" sz="4000">
                <a:ea typeface="+mj-lt"/>
                <a:cs typeface="+mj-lt"/>
              </a:rPr>
              <a:t>肆、</a:t>
            </a:r>
            <a:br>
              <a:rPr lang="zh-TW" altLang="en-US" sz="4000" dirty="0">
                <a:ea typeface="+mj-lt"/>
                <a:cs typeface="+mj-lt"/>
              </a:rPr>
            </a:br>
            <a:r>
              <a:rPr lang="zh-TW" altLang="en-US" sz="4000">
                <a:ea typeface="+mj-lt"/>
                <a:cs typeface="+mj-lt"/>
              </a:rPr>
              <a:t>特性要因分析</a:t>
            </a:r>
            <a:endParaRPr lang="zh-TW"/>
          </a:p>
        </p:txBody>
      </p:sp>
      <p:pic>
        <p:nvPicPr>
          <p:cNvPr id="4" name="內容版面配置區 3" descr="一張含有 文字, 螢幕擷取畫面, 圖表, 字型 的圖片&#10;&#10;AI 產生的內容可能不正確。">
            <a:extLst>
              <a:ext uri="{FF2B5EF4-FFF2-40B4-BE49-F238E27FC236}">
                <a16:creationId xmlns:a16="http://schemas.microsoft.com/office/drawing/2014/main" id="{F57D9B14-A71C-3A51-E2CF-7BF72BF923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07220" y="1717393"/>
            <a:ext cx="7493409" cy="4132672"/>
          </a:xfrm>
        </p:spPr>
      </p:pic>
      <p:sp>
        <p:nvSpPr>
          <p:cNvPr id="7" name="文字版面配置區 3">
            <a:extLst>
              <a:ext uri="{FF2B5EF4-FFF2-40B4-BE49-F238E27FC236}">
                <a16:creationId xmlns:a16="http://schemas.microsoft.com/office/drawing/2014/main" id="{305D043D-1324-68C9-5900-DF86E1DA8F14}"/>
              </a:ext>
            </a:extLst>
          </p:cNvPr>
          <p:cNvSpPr txBox="1">
            <a:spLocks/>
          </p:cNvSpPr>
          <p:nvPr/>
        </p:nvSpPr>
        <p:spPr>
          <a:xfrm>
            <a:off x="643143" y="1787013"/>
            <a:ext cx="1953496" cy="40696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TW" sz="2000" b="1">
                <a:solidFill>
                  <a:srgbClr val="000000"/>
                </a:solidFill>
                <a:latin typeface="Aptos"/>
                <a:ea typeface="新細明體"/>
              </a:rPr>
              <a:t>創業動機</a:t>
            </a:r>
            <a:endParaRPr lang="zh-TW"/>
          </a:p>
          <a:p>
            <a:pPr algn="ctr">
              <a:lnSpc>
                <a:spcPct val="150000"/>
              </a:lnSpc>
            </a:pPr>
            <a:r>
              <a:rPr lang="zh-TW" sz="2000" b="1">
                <a:latin typeface="Aptos"/>
                <a:ea typeface="新細明體"/>
              </a:rPr>
              <a:t>產品概念圖</a:t>
            </a:r>
          </a:p>
          <a:p>
            <a:pPr algn="ctr">
              <a:lnSpc>
                <a:spcPct val="150000"/>
              </a:lnSpc>
            </a:pPr>
            <a:r>
              <a:rPr lang="zh-TW" sz="2000" b="1">
                <a:latin typeface="Aptos"/>
                <a:ea typeface="新細明體"/>
              </a:rPr>
              <a:t>產品生命週期</a:t>
            </a:r>
          </a:p>
          <a:p>
            <a:pPr algn="ctr">
              <a:lnSpc>
                <a:spcPct val="150000"/>
              </a:lnSpc>
            </a:pPr>
            <a:r>
              <a:rPr lang="zh-TW" sz="2000" b="1">
                <a:latin typeface="Aptos"/>
                <a:ea typeface="新細明體"/>
              </a:rPr>
              <a:t>特性要因分析</a:t>
            </a:r>
          </a:p>
          <a:p>
            <a:pPr algn="ctr">
              <a:lnSpc>
                <a:spcPct val="150000"/>
              </a:lnSpc>
            </a:pPr>
            <a:r>
              <a:rPr lang="zh-TW" sz="2000" b="1">
                <a:latin typeface="Aptos"/>
                <a:ea typeface="新細明體"/>
              </a:rPr>
              <a:t>SWOT分析</a:t>
            </a:r>
          </a:p>
          <a:p>
            <a:pPr algn="ctr">
              <a:lnSpc>
                <a:spcPct val="150000"/>
              </a:lnSpc>
            </a:pPr>
            <a:r>
              <a:rPr lang="zh-TW" sz="2000" b="1">
                <a:latin typeface="Aptos"/>
                <a:ea typeface="新細明體"/>
              </a:rPr>
              <a:t>結論</a:t>
            </a:r>
          </a:p>
          <a:p>
            <a:pPr algn="ctr">
              <a:lnSpc>
                <a:spcPct val="150000"/>
              </a:lnSpc>
            </a:pPr>
            <a:r>
              <a:rPr lang="zh-TW" sz="2000" b="1">
                <a:latin typeface="Aptos"/>
                <a:ea typeface="新細明體"/>
              </a:rPr>
              <a:t>參考資料</a:t>
            </a:r>
          </a:p>
          <a:p>
            <a:endParaRPr lang="zh-TW" altLang="en-US" dirty="0">
              <a:ea typeface="新細明體"/>
            </a:endParaRPr>
          </a:p>
        </p:txBody>
      </p:sp>
      <p:pic>
        <p:nvPicPr>
          <p:cNvPr id="10" name="內容版面配置區 8" descr="一張含有 文字, 螢幕擷取畫面, 圖表, 方案 的圖片&#10;&#10;AI 產生的內容可能不正確。">
            <a:extLst>
              <a:ext uri="{FF2B5EF4-FFF2-40B4-BE49-F238E27FC236}">
                <a16:creationId xmlns:a16="http://schemas.microsoft.com/office/drawing/2014/main" id="{D3E48FFD-4ECB-0816-1E8F-BD5B43CF7D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3511" y="1573"/>
            <a:ext cx="2532729" cy="1606577"/>
          </a:xfrm>
          <a:prstGeom prst="rect">
            <a:avLst/>
          </a:prstGeom>
        </p:spPr>
      </p:pic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1D3F35B6-B851-F984-1EBD-C5AAD0E63C3C}"/>
              </a:ext>
            </a:extLst>
          </p:cNvPr>
          <p:cNvSpPr/>
          <p:nvPr/>
        </p:nvSpPr>
        <p:spPr>
          <a:xfrm>
            <a:off x="4231819" y="802820"/>
            <a:ext cx="952501" cy="802821"/>
          </a:xfrm>
          <a:prstGeom prst="round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65207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C9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E4B44D-F16A-A2A3-E057-302A6FEAA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圓角化同側角落 5">
            <a:extLst>
              <a:ext uri="{FF2B5EF4-FFF2-40B4-BE49-F238E27FC236}">
                <a16:creationId xmlns:a16="http://schemas.microsoft.com/office/drawing/2014/main" id="{109DBDAC-386B-E1E0-FB59-9F285222324D}"/>
              </a:ext>
            </a:extLst>
          </p:cNvPr>
          <p:cNvSpPr/>
          <p:nvPr/>
        </p:nvSpPr>
        <p:spPr>
          <a:xfrm rot="5400000">
            <a:off x="-1816822" y="1804531"/>
            <a:ext cx="6876921" cy="3247179"/>
          </a:xfrm>
          <a:prstGeom prst="rect">
            <a:avLst/>
          </a:prstGeom>
          <a:solidFill>
            <a:srgbClr val="FAE5AA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44F45AF-2C1D-BC8A-5A55-6EFCAE31E9F4}"/>
              </a:ext>
            </a:extLst>
          </p:cNvPr>
          <p:cNvSpPr/>
          <p:nvPr/>
        </p:nvSpPr>
        <p:spPr>
          <a:xfrm>
            <a:off x="941562" y="4216831"/>
            <a:ext cx="1372558" cy="363501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4F00E820-50EC-6F0E-DDA5-D03C74F2B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6" y="2458"/>
            <a:ext cx="3243979" cy="1600200"/>
          </a:xfrm>
        </p:spPr>
        <p:txBody>
          <a:bodyPr>
            <a:normAutofit/>
          </a:bodyPr>
          <a:lstStyle/>
          <a:p>
            <a:r>
              <a:rPr lang="en-US" altLang="zh-TW" sz="4000" dirty="0">
                <a:ea typeface="+mj-lt"/>
                <a:cs typeface="+mj-lt"/>
              </a:rPr>
              <a:t>伍、</a:t>
            </a:r>
            <a:br>
              <a:rPr lang="en-US" altLang="zh-TW" sz="4000" dirty="0">
                <a:ea typeface="+mj-lt"/>
                <a:cs typeface="+mj-lt"/>
              </a:rPr>
            </a:br>
            <a:r>
              <a:rPr lang="en-US" altLang="zh-TW" sz="4000" dirty="0" err="1">
                <a:ea typeface="+mj-lt"/>
                <a:cs typeface="+mj-lt"/>
              </a:rPr>
              <a:t>SWOT分析</a:t>
            </a:r>
            <a:endParaRPr lang="zh-TW" sz="4000" dirty="0" err="1">
              <a:ea typeface="+mj-lt"/>
              <a:cs typeface="+mj-lt"/>
            </a:endParaRPr>
          </a:p>
        </p:txBody>
      </p:sp>
      <p:sp>
        <p:nvSpPr>
          <p:cNvPr id="9" name="文字版面配置區 3">
            <a:extLst>
              <a:ext uri="{FF2B5EF4-FFF2-40B4-BE49-F238E27FC236}">
                <a16:creationId xmlns:a16="http://schemas.microsoft.com/office/drawing/2014/main" id="{BF81C8FC-C068-ABB2-FC95-3D92C6607C61}"/>
              </a:ext>
            </a:extLst>
          </p:cNvPr>
          <p:cNvSpPr txBox="1">
            <a:spLocks/>
          </p:cNvSpPr>
          <p:nvPr/>
        </p:nvSpPr>
        <p:spPr>
          <a:xfrm>
            <a:off x="643143" y="1787013"/>
            <a:ext cx="1953496" cy="40696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TW" sz="2000" b="1">
                <a:solidFill>
                  <a:srgbClr val="000000"/>
                </a:solidFill>
                <a:latin typeface="Aptos"/>
                <a:ea typeface="新細明體"/>
              </a:rPr>
              <a:t>創業動機</a:t>
            </a:r>
            <a:endParaRPr lang="zh-TW"/>
          </a:p>
          <a:p>
            <a:pPr algn="ctr">
              <a:lnSpc>
                <a:spcPct val="150000"/>
              </a:lnSpc>
            </a:pPr>
            <a:r>
              <a:rPr lang="zh-TW" sz="2000" b="1">
                <a:latin typeface="Aptos"/>
                <a:ea typeface="新細明體"/>
              </a:rPr>
              <a:t>產品概念圖</a:t>
            </a:r>
          </a:p>
          <a:p>
            <a:pPr algn="ctr">
              <a:lnSpc>
                <a:spcPct val="150000"/>
              </a:lnSpc>
            </a:pPr>
            <a:r>
              <a:rPr lang="zh-TW" sz="2000" b="1">
                <a:latin typeface="Aptos"/>
                <a:ea typeface="新細明體"/>
              </a:rPr>
              <a:t>產品生命週期</a:t>
            </a:r>
          </a:p>
          <a:p>
            <a:pPr algn="ctr">
              <a:lnSpc>
                <a:spcPct val="150000"/>
              </a:lnSpc>
            </a:pPr>
            <a:r>
              <a:rPr lang="zh-TW" sz="2000" b="1">
                <a:latin typeface="Aptos"/>
                <a:ea typeface="新細明體"/>
              </a:rPr>
              <a:t>特性要因分析</a:t>
            </a:r>
          </a:p>
          <a:p>
            <a:pPr algn="ctr">
              <a:lnSpc>
                <a:spcPct val="150000"/>
              </a:lnSpc>
            </a:pPr>
            <a:r>
              <a:rPr lang="zh-TW" sz="2000" b="1">
                <a:latin typeface="Aptos"/>
                <a:ea typeface="新細明體"/>
              </a:rPr>
              <a:t>SWOT分析</a:t>
            </a:r>
          </a:p>
          <a:p>
            <a:pPr algn="ctr">
              <a:lnSpc>
                <a:spcPct val="150000"/>
              </a:lnSpc>
            </a:pPr>
            <a:r>
              <a:rPr lang="zh-TW" sz="2000" b="1">
                <a:latin typeface="Aptos"/>
                <a:ea typeface="新細明體"/>
              </a:rPr>
              <a:t>結論</a:t>
            </a:r>
          </a:p>
          <a:p>
            <a:pPr algn="ctr">
              <a:lnSpc>
                <a:spcPct val="150000"/>
              </a:lnSpc>
            </a:pPr>
            <a:r>
              <a:rPr lang="zh-TW" sz="2000" b="1">
                <a:latin typeface="Aptos"/>
                <a:ea typeface="新細明體"/>
              </a:rPr>
              <a:t>參考資料</a:t>
            </a:r>
          </a:p>
          <a:p>
            <a:endParaRPr lang="zh-TW" altLang="en-US" dirty="0">
              <a:ea typeface="新細明體"/>
            </a:endParaRPr>
          </a:p>
        </p:txBody>
      </p:sp>
      <p:graphicFrame>
        <p:nvGraphicFramePr>
          <p:cNvPr id="8" name="內容版面配置區 7">
            <a:extLst>
              <a:ext uri="{FF2B5EF4-FFF2-40B4-BE49-F238E27FC236}">
                <a16:creationId xmlns:a16="http://schemas.microsoft.com/office/drawing/2014/main" id="{1C0A00D3-A1DB-6BAE-48CA-484CD151E0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40808868"/>
              </p:ext>
            </p:extLst>
          </p:nvPr>
        </p:nvGraphicFramePr>
        <p:xfrm>
          <a:off x="4246417" y="1281039"/>
          <a:ext cx="6969176" cy="42991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84588">
                  <a:extLst>
                    <a:ext uri="{9D8B030D-6E8A-4147-A177-3AD203B41FA5}">
                      <a16:colId xmlns:a16="http://schemas.microsoft.com/office/drawing/2014/main" val="3070607280"/>
                    </a:ext>
                  </a:extLst>
                </a:gridCol>
                <a:gridCol w="3484588">
                  <a:extLst>
                    <a:ext uri="{9D8B030D-6E8A-4147-A177-3AD203B41FA5}">
                      <a16:colId xmlns:a16="http://schemas.microsoft.com/office/drawing/2014/main" val="4098544511"/>
                    </a:ext>
                  </a:extLst>
                </a:gridCol>
              </a:tblGrid>
              <a:tr h="214957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TW" sz="1800" b="1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PMingLiU"/>
                        </a:rPr>
                        <a:t>優勢 </a:t>
                      </a:r>
                      <a:r>
                        <a:rPr lang="af-ZA" sz="1800" b="1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S</a:t>
                      </a:r>
                      <a:endParaRPr lang="en-US" sz="1800" b="0" i="0" u="none" strike="noStrike" noProof="0">
                        <a:solidFill>
                          <a:srgbClr val="000000"/>
                        </a:solidFill>
                        <a:latin typeface="Calibri"/>
                      </a:endParaRPr>
                    </a:p>
                    <a:p>
                      <a:pPr marL="285750" lvl="0" indent="-285750">
                        <a:buClr>
                          <a:srgbClr val="FFFFFF"/>
                        </a:buClr>
                        <a:buFont typeface="Arial,Sans-Serif"/>
                        <a:buChar char="•"/>
                      </a:pPr>
                      <a:r>
                        <a:rPr lang="zh-TW" sz="18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PMingLiU"/>
                        </a:rPr>
                        <a:t>透過開放式廚房展示食物製作過程，增強顧客參與感</a:t>
                      </a:r>
                      <a:endParaRPr lang="en-US" altLang="zh-TW" sz="1800" b="0" i="0" u="none" strike="noStrike" noProof="0">
                        <a:solidFill>
                          <a:srgbClr val="000000"/>
                        </a:solidFill>
                        <a:latin typeface="Calibri"/>
                        <a:ea typeface="Calibri"/>
                      </a:endParaRPr>
                    </a:p>
                    <a:p>
                      <a:pPr marL="285750" lvl="0" indent="-285750">
                        <a:buClr>
                          <a:srgbClr val="FFFFFF"/>
                        </a:buClr>
                        <a:buFont typeface="Arial,Sans-Serif"/>
                        <a:buChar char="•"/>
                      </a:pPr>
                      <a:r>
                        <a:rPr lang="zh-TW" sz="18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PMingLiU"/>
                        </a:rPr>
                        <a:t>餐車機動性強，可根據慶、活動和季節調整營業地點</a:t>
                      </a:r>
                      <a:endParaRPr lang="en-US" altLang="zh-TW" sz="1800" b="0" i="0" u="none" strike="noStrike" noProof="0">
                        <a:solidFill>
                          <a:srgbClr val="000000"/>
                        </a:solidFill>
                        <a:latin typeface="Calibri"/>
                        <a:ea typeface="Calibri"/>
                      </a:endParaRPr>
                    </a:p>
                    <a:p>
                      <a:pPr marL="285750" lvl="0" indent="-285750">
                        <a:buClr>
                          <a:srgbClr val="FFFFFF"/>
                        </a:buClr>
                        <a:buFont typeface="Arial,Sans-Serif"/>
                        <a:buChar char="•"/>
                      </a:pPr>
                      <a:r>
                        <a:rPr lang="zh-TW" sz="18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PMingLiU"/>
                        </a:rPr>
                        <a:t>初期投資成本低，經營風險相對較小</a:t>
                      </a:r>
                      <a:endParaRPr lang="zh-TW">
                        <a:latin typeface="Calibri"/>
                      </a:endParaRPr>
                    </a:p>
                  </a:txBody>
                  <a:tcPr>
                    <a:lnL w="0">
                      <a:noFill/>
                    </a:lnL>
                    <a:lnR w="12700">
                      <a:solidFill>
                        <a:schemeClr val="tx1"/>
                      </a:solidFill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TW" sz="1800" b="1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PMingLiU"/>
                        </a:rPr>
                        <a:t>劣勢 </a:t>
                      </a:r>
                      <a:r>
                        <a:rPr lang="af-ZA" altLang="zh-TW" sz="1800" b="1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W</a:t>
                      </a:r>
                      <a:endParaRPr lang="zh-TW" sz="1800" b="0" i="0" u="none" strike="noStrike" noProof="0">
                        <a:solidFill>
                          <a:srgbClr val="000000"/>
                        </a:solidFill>
                        <a:latin typeface="Calibri"/>
                      </a:endParaRPr>
                    </a:p>
                    <a:p>
                      <a:pPr marL="285750" lvl="0" indent="-285750">
                        <a:buClr>
                          <a:srgbClr val="FFFFFF"/>
                        </a:buClr>
                        <a:buFont typeface="Arial,Sans-Serif"/>
                        <a:buChar char="•"/>
                      </a:pPr>
                      <a:r>
                        <a:rPr lang="zh-TW" sz="18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PMingLiU"/>
                        </a:rPr>
                        <a:t>受天氣、季節變化影響大，特別是雨季和冬季營業</a:t>
                      </a:r>
                      <a:endParaRPr lang="af-ZA" altLang="zh-TW" sz="1800" b="0" i="0" u="none" strike="noStrike" noProof="0">
                        <a:solidFill>
                          <a:srgbClr val="000000"/>
                        </a:solidFill>
                        <a:latin typeface="Calibri"/>
                        <a:ea typeface="Calibri"/>
                      </a:endParaRPr>
                    </a:p>
                    <a:p>
                      <a:pPr marL="285750" lvl="0" indent="-285750">
                        <a:buClr>
                          <a:srgbClr val="FFFFFF"/>
                        </a:buClr>
                        <a:buFont typeface="Arial,Sans-Serif"/>
                        <a:buChar char="•"/>
                      </a:pPr>
                      <a:r>
                        <a:rPr lang="zh-TW" sz="18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PMingLiU"/>
                        </a:rPr>
                        <a:t>餐車空間限制，生產效率和菜單多樣性受到限制</a:t>
                      </a:r>
                      <a:endParaRPr lang="af-ZA" altLang="zh-TW" sz="1800" b="0" i="0" u="none" strike="noStrike" noProof="0">
                        <a:solidFill>
                          <a:srgbClr val="000000"/>
                        </a:solidFill>
                        <a:latin typeface="Calibri"/>
                        <a:ea typeface="Calibri"/>
                      </a:endParaRPr>
                    </a:p>
                    <a:p>
                      <a:pPr marL="285750" lvl="0" indent="-285750">
                        <a:buClr>
                          <a:srgbClr val="FFFFFF"/>
                        </a:buClr>
                        <a:buFont typeface="Arial,Sans-Serif"/>
                        <a:buChar char="•"/>
                      </a:pPr>
                      <a:r>
                        <a:rPr lang="zh-TW" sz="18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PMingLiU"/>
                        </a:rPr>
                        <a:t>建立固定客群的難度高於實體店面</a:t>
                      </a:r>
                      <a:endParaRPr lang="zh-TW">
                        <a:latin typeface="Calibri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0937666"/>
                  </a:ext>
                </a:extLst>
              </a:tr>
              <a:tr h="214957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800" b="1" i="0" u="none" strike="noStrike" kern="1200" noProof="0">
                          <a:solidFill>
                            <a:srgbClr val="000000"/>
                          </a:solidFill>
                          <a:latin typeface="Calibri"/>
                          <a:ea typeface="PMingLiU"/>
                          <a:cs typeface="+mn-cs"/>
                        </a:rPr>
                        <a:t>機會 </a:t>
                      </a:r>
                      <a:r>
                        <a:rPr lang="en-US" altLang="zh-TW" sz="1800" b="1" i="0" u="none" strike="noStrike" kern="1200" noProof="0" dirty="0">
                          <a:solidFill>
                            <a:srgbClr val="000000"/>
                          </a:solidFill>
                          <a:latin typeface="Calibri"/>
                          <a:ea typeface="PMingLiU"/>
                          <a:cs typeface="+mn-cs"/>
                        </a:rPr>
                        <a:t>O</a:t>
                      </a:r>
                      <a:endParaRPr lang="zh-TW" altLang="en-US" sz="1800" b="1" i="0" u="none" strike="noStrike" kern="1200">
                        <a:solidFill>
                          <a:srgbClr val="000000"/>
                        </a:solidFill>
                        <a:latin typeface="Calibri"/>
                        <a:ea typeface="PMingLiU"/>
                        <a:cs typeface="+mn-cs"/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zh-TW" sz="1800" b="0" i="0" u="none" strike="noStrike" noProof="0">
                          <a:latin typeface="Calibri"/>
                          <a:ea typeface="新細明體"/>
                        </a:rPr>
                        <a:t>墨西哥料理在台灣市場仍屬於藍海，競爭較少</a:t>
                      </a:r>
                      <a:endParaRPr lang="zh-TW">
                        <a:latin typeface="Calibri"/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zh-TW" sz="1800" b="0" i="0" u="none" strike="noStrike" noProof="0">
                          <a:latin typeface="Calibri"/>
                          <a:ea typeface="新細明體"/>
                        </a:rPr>
                        <a:t>社群媒體上色彩鮮豔的墨西哥料理極具分享性</a:t>
                      </a:r>
                      <a:endParaRPr lang="zh-TW">
                        <a:latin typeface="Calibri"/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zh-TW" sz="1800" b="0" i="0" u="none" strike="noStrike" noProof="0">
                          <a:latin typeface="Calibri"/>
                          <a:ea typeface="新細明體"/>
                        </a:rPr>
                        <a:t>與各類戶外活動、音樂節和市集合作的可能性高</a:t>
                      </a:r>
                      <a:endParaRPr lang="zh-TW">
                        <a:latin typeface="Calibri"/>
                      </a:endParaRPr>
                    </a:p>
                  </a:txBody>
                  <a:tcPr>
                    <a:lnL w="0">
                      <a:noFill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0"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800" b="1" i="0" u="none" strike="noStrike" kern="1200" noProof="0">
                          <a:solidFill>
                            <a:srgbClr val="000000"/>
                          </a:solidFill>
                          <a:latin typeface="Calibri"/>
                          <a:ea typeface="PMingLiU"/>
                          <a:cs typeface="+mn-cs"/>
                        </a:rPr>
                        <a:t>威脅 </a:t>
                      </a:r>
                      <a:r>
                        <a:rPr lang="en-US" altLang="zh-TW" sz="1800" b="1" i="0" u="none" strike="noStrike" kern="1200" noProof="0">
                          <a:solidFill>
                            <a:srgbClr val="000000"/>
                          </a:solidFill>
                          <a:latin typeface="Calibri"/>
                          <a:ea typeface="PMingLiU"/>
                          <a:cs typeface="+mn-cs"/>
                        </a:rPr>
                        <a:t>T</a:t>
                      </a:r>
                      <a:endParaRPr lang="zh-TW" altLang="en-US" sz="1800" b="1" i="0" u="none" strike="noStrike" kern="1200">
                        <a:solidFill>
                          <a:srgbClr val="000000"/>
                        </a:solidFill>
                        <a:latin typeface="Calibri"/>
                        <a:ea typeface="PMingLiU"/>
                        <a:cs typeface="+mn-cs"/>
                      </a:endParaRPr>
                    </a:p>
                    <a:p>
                      <a:pPr marL="285750" lvl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zh-TW" altLang="en-US" sz="1800" b="0" i="0" u="none" strike="noStrike" kern="1200" noProof="0">
                          <a:solidFill>
                            <a:schemeClr val="dk1"/>
                          </a:solidFill>
                          <a:latin typeface="Calibri"/>
                          <a:ea typeface="新細明體"/>
                          <a:cs typeface="+mn-cs"/>
                        </a:rPr>
                        <a:t>餐車營業法規可能變動，增加合規成本</a:t>
                      </a:r>
                      <a:endParaRPr lang="zh-TW" altLang="en-US" sz="1800" b="0" i="0" u="none" strike="noStrike" kern="1200">
                        <a:solidFill>
                          <a:schemeClr val="dk1"/>
                        </a:solidFill>
                        <a:latin typeface="Calibri"/>
                        <a:ea typeface="新細明體"/>
                        <a:cs typeface="+mn-cs"/>
                      </a:endParaRPr>
                    </a:p>
                    <a:p>
                      <a:pPr marL="285750" lvl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zh-TW" altLang="en-US" sz="1800" b="0" i="0" u="none" strike="noStrike" kern="1200" noProof="0">
                          <a:solidFill>
                            <a:schemeClr val="dk1"/>
                          </a:solidFill>
                          <a:latin typeface="Calibri"/>
                          <a:ea typeface="新細明體"/>
                          <a:cs typeface="+mn-cs"/>
                        </a:rPr>
                        <a:t>競爭對手可能快速模仿進入市場</a:t>
                      </a:r>
                      <a:endParaRPr lang="zh-TW" altLang="en-US" sz="1800" b="0" i="0" u="none" strike="noStrike" kern="1200">
                        <a:solidFill>
                          <a:schemeClr val="dk1"/>
                        </a:solidFill>
                        <a:latin typeface="Calibri"/>
                        <a:ea typeface="新細明體"/>
                        <a:cs typeface="+mn-cs"/>
                      </a:endParaRPr>
                    </a:p>
                    <a:p>
                      <a:pPr marL="285750" lvl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zh-TW" altLang="en-US" sz="1800" b="0" i="0" u="none" strike="noStrike" kern="1200" noProof="0">
                          <a:solidFill>
                            <a:schemeClr val="dk1"/>
                          </a:solidFill>
                          <a:latin typeface="Calibri"/>
                          <a:ea typeface="新細明體"/>
                          <a:cs typeface="+mn-cs"/>
                        </a:rPr>
                        <a:t>消費者對異國料理的接受度和喜好可能變化</a:t>
                      </a:r>
                      <a:endParaRPr lang="zh-TW" altLang="en-US" sz="1800" b="0" i="0" u="none" strike="noStrike" kern="1200">
                        <a:solidFill>
                          <a:schemeClr val="dk1"/>
                        </a:solidFill>
                        <a:latin typeface="Calibri"/>
                        <a:ea typeface="新細明體"/>
                        <a:cs typeface="+mn-c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0"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0827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17183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C9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8D5B7B-2B6A-90D9-AFCA-7685DC6AC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圓角化同側角落 5">
            <a:extLst>
              <a:ext uri="{FF2B5EF4-FFF2-40B4-BE49-F238E27FC236}">
                <a16:creationId xmlns:a16="http://schemas.microsoft.com/office/drawing/2014/main" id="{8EC0F820-24BA-C37E-AF8F-7A216E92B028}"/>
              </a:ext>
            </a:extLst>
          </p:cNvPr>
          <p:cNvSpPr/>
          <p:nvPr/>
        </p:nvSpPr>
        <p:spPr>
          <a:xfrm rot="5400000">
            <a:off x="-1816822" y="1804531"/>
            <a:ext cx="6876921" cy="3247179"/>
          </a:xfrm>
          <a:prstGeom prst="rect">
            <a:avLst/>
          </a:prstGeom>
          <a:solidFill>
            <a:srgbClr val="FAE5AA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55E17DE-3DFB-8420-7E61-376B2BF72008}"/>
              </a:ext>
            </a:extLst>
          </p:cNvPr>
          <p:cNvSpPr/>
          <p:nvPr/>
        </p:nvSpPr>
        <p:spPr>
          <a:xfrm>
            <a:off x="1285692" y="4806766"/>
            <a:ext cx="684301" cy="363501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27E6CA4E-8910-AB40-7B0F-6B4709FFE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6" y="2458"/>
            <a:ext cx="3243980" cy="1600200"/>
          </a:xfrm>
        </p:spPr>
        <p:txBody>
          <a:bodyPr>
            <a:normAutofit/>
          </a:bodyPr>
          <a:lstStyle/>
          <a:p>
            <a:r>
              <a:rPr lang="zh-TW" altLang="en-US" sz="4000">
                <a:ea typeface="+mj-lt"/>
                <a:cs typeface="+mj-lt"/>
              </a:rPr>
              <a:t>陸、</a:t>
            </a:r>
            <a:br>
              <a:rPr lang="zh-TW" altLang="en-US" sz="4000" dirty="0">
                <a:ea typeface="+mj-lt"/>
                <a:cs typeface="+mj-lt"/>
              </a:rPr>
            </a:br>
            <a:r>
              <a:rPr lang="zh-TW" altLang="en-US" sz="4000">
                <a:ea typeface="+mj-lt"/>
                <a:cs typeface="+mj-lt"/>
              </a:rPr>
              <a:t>結論</a:t>
            </a:r>
            <a:endParaRPr lang="en-US" altLang="zh-TW" sz="4000">
              <a:ea typeface="+mj-lt"/>
              <a:cs typeface="+mj-lt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0842F4B-DEE2-97F3-9FBC-3FBB0F0DCB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8992" y="1014639"/>
            <a:ext cx="6172200" cy="487362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endParaRPr lang="zh-TW" dirty="0">
              <a:ea typeface="+mn-lt"/>
              <a:cs typeface="+mn-lt"/>
            </a:endParaRPr>
          </a:p>
          <a:p>
            <a:pPr marL="0" indent="0" algn="ctr">
              <a:buNone/>
            </a:pPr>
            <a:endParaRPr lang="zh-TW" altLang="en-US" dirty="0">
              <a:ea typeface="+mn-lt"/>
              <a:cs typeface="+mn-lt"/>
            </a:endParaRPr>
          </a:p>
          <a:p>
            <a:pPr marL="0" indent="0" algn="ctr">
              <a:buNone/>
            </a:pPr>
            <a:r>
              <a:rPr lang="zh-TW" altLang="en-US">
                <a:ea typeface="+mn-lt"/>
                <a:cs typeface="+mn-lt"/>
              </a:rPr>
              <a:t>「</a:t>
            </a:r>
            <a:r>
              <a:rPr lang="zh-TW">
                <a:ea typeface="+mn-lt"/>
                <a:cs typeface="+mn-lt"/>
              </a:rPr>
              <a:t>無論好壞，總有美食相伴</a:t>
            </a:r>
            <a:r>
              <a:rPr lang="zh-TW" altLang="en-US">
                <a:ea typeface="+mn-lt"/>
                <a:cs typeface="+mn-lt"/>
              </a:rPr>
              <a:t>」</a:t>
            </a:r>
            <a:endParaRPr lang="zh-TW" altLang="en-US">
              <a:ea typeface="新細明體"/>
            </a:endParaRPr>
          </a:p>
        </p:txBody>
      </p:sp>
      <p:sp>
        <p:nvSpPr>
          <p:cNvPr id="9" name="文字版面配置區 3">
            <a:extLst>
              <a:ext uri="{FF2B5EF4-FFF2-40B4-BE49-F238E27FC236}">
                <a16:creationId xmlns:a16="http://schemas.microsoft.com/office/drawing/2014/main" id="{437E60B7-651B-E537-164E-9721F42570E5}"/>
              </a:ext>
            </a:extLst>
          </p:cNvPr>
          <p:cNvSpPr txBox="1">
            <a:spLocks/>
          </p:cNvSpPr>
          <p:nvPr/>
        </p:nvSpPr>
        <p:spPr>
          <a:xfrm>
            <a:off x="643143" y="1787013"/>
            <a:ext cx="1953496" cy="40696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TW" sz="2000" b="1">
                <a:solidFill>
                  <a:srgbClr val="000000"/>
                </a:solidFill>
                <a:latin typeface="Aptos"/>
                <a:ea typeface="新細明體"/>
              </a:rPr>
              <a:t>創業動機</a:t>
            </a:r>
            <a:endParaRPr lang="zh-TW"/>
          </a:p>
          <a:p>
            <a:pPr algn="ctr">
              <a:lnSpc>
                <a:spcPct val="150000"/>
              </a:lnSpc>
            </a:pPr>
            <a:r>
              <a:rPr lang="zh-TW" sz="2000" b="1">
                <a:latin typeface="Aptos"/>
                <a:ea typeface="新細明體"/>
              </a:rPr>
              <a:t>產品概念圖</a:t>
            </a:r>
          </a:p>
          <a:p>
            <a:pPr algn="ctr">
              <a:lnSpc>
                <a:spcPct val="150000"/>
              </a:lnSpc>
            </a:pPr>
            <a:r>
              <a:rPr lang="zh-TW" sz="2000" b="1">
                <a:latin typeface="Aptos"/>
                <a:ea typeface="新細明體"/>
              </a:rPr>
              <a:t>產品生命週期</a:t>
            </a:r>
          </a:p>
          <a:p>
            <a:pPr algn="ctr">
              <a:lnSpc>
                <a:spcPct val="150000"/>
              </a:lnSpc>
            </a:pPr>
            <a:r>
              <a:rPr lang="zh-TW" sz="2000" b="1">
                <a:latin typeface="Aptos"/>
                <a:ea typeface="新細明體"/>
              </a:rPr>
              <a:t>特性要因分析</a:t>
            </a:r>
          </a:p>
          <a:p>
            <a:pPr algn="ctr">
              <a:lnSpc>
                <a:spcPct val="150000"/>
              </a:lnSpc>
            </a:pPr>
            <a:r>
              <a:rPr lang="zh-TW" sz="2000" b="1">
                <a:latin typeface="Aptos"/>
                <a:ea typeface="新細明體"/>
              </a:rPr>
              <a:t>SWOT分析</a:t>
            </a:r>
          </a:p>
          <a:p>
            <a:pPr algn="ctr">
              <a:lnSpc>
                <a:spcPct val="150000"/>
              </a:lnSpc>
            </a:pPr>
            <a:r>
              <a:rPr lang="zh-TW" sz="2000" b="1">
                <a:latin typeface="Aptos"/>
                <a:ea typeface="新細明體"/>
              </a:rPr>
              <a:t>結論</a:t>
            </a:r>
          </a:p>
          <a:p>
            <a:pPr algn="ctr">
              <a:lnSpc>
                <a:spcPct val="150000"/>
              </a:lnSpc>
            </a:pPr>
            <a:r>
              <a:rPr lang="zh-TW" sz="2000" b="1">
                <a:latin typeface="Aptos"/>
                <a:ea typeface="新細明體"/>
              </a:rPr>
              <a:t>參考資料</a:t>
            </a:r>
          </a:p>
          <a:p>
            <a:endParaRPr lang="zh-TW" altLang="en-US">
              <a:ea typeface="新細明體"/>
            </a:endParaRPr>
          </a:p>
        </p:txBody>
      </p:sp>
      <p:pic>
        <p:nvPicPr>
          <p:cNvPr id="4" name="圖片 3" descr="一張含有 文字, 字型, 螢幕擷取畫面, 數字 的圖片&#10;&#10;AI 產生的內容可能不正確。">
            <a:extLst>
              <a:ext uri="{FF2B5EF4-FFF2-40B4-BE49-F238E27FC236}">
                <a16:creationId xmlns:a16="http://schemas.microsoft.com/office/drawing/2014/main" id="{A747FA02-1348-1D59-8CF0-68DE0C5E85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9014" y="2965882"/>
            <a:ext cx="7553250" cy="2800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8443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C9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33F44F-B66B-FC72-2BC1-1CA35E4D3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圓角化同側角落 5">
            <a:extLst>
              <a:ext uri="{FF2B5EF4-FFF2-40B4-BE49-F238E27FC236}">
                <a16:creationId xmlns:a16="http://schemas.microsoft.com/office/drawing/2014/main" id="{83D00390-B710-982B-71C2-8DC4C8A4BCD4}"/>
              </a:ext>
            </a:extLst>
          </p:cNvPr>
          <p:cNvSpPr/>
          <p:nvPr/>
        </p:nvSpPr>
        <p:spPr>
          <a:xfrm rot="5400000">
            <a:off x="-1816822" y="1804531"/>
            <a:ext cx="6876921" cy="3247179"/>
          </a:xfrm>
          <a:prstGeom prst="rect">
            <a:avLst/>
          </a:prstGeom>
          <a:solidFill>
            <a:srgbClr val="FAE5AA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7E2F04E-2619-36AE-B96B-22D490CA9A16}"/>
              </a:ext>
            </a:extLst>
          </p:cNvPr>
          <p:cNvSpPr/>
          <p:nvPr/>
        </p:nvSpPr>
        <p:spPr>
          <a:xfrm>
            <a:off x="990725" y="5372121"/>
            <a:ext cx="1274235" cy="388082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2824CA18-7B04-6E0D-3F42-B2023E45E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6" y="2458"/>
            <a:ext cx="3243979" cy="1600200"/>
          </a:xfrm>
        </p:spPr>
        <p:txBody>
          <a:bodyPr>
            <a:normAutofit/>
          </a:bodyPr>
          <a:lstStyle/>
          <a:p>
            <a:r>
              <a:rPr lang="zh-TW" altLang="en-US" sz="4000">
                <a:ea typeface="+mj-lt"/>
                <a:cs typeface="+mj-lt"/>
              </a:rPr>
              <a:t>柒、</a:t>
            </a:r>
            <a:br>
              <a:rPr lang="zh-TW" altLang="en-US" sz="4000" dirty="0">
                <a:ea typeface="+mj-lt"/>
                <a:cs typeface="+mj-lt"/>
              </a:rPr>
            </a:br>
            <a:r>
              <a:rPr lang="zh-TW" altLang="en-US" sz="4000">
                <a:ea typeface="+mj-lt"/>
                <a:cs typeface="+mj-lt"/>
              </a:rPr>
              <a:t>參考資料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98FDE6A-7C2B-D301-A86C-FE7B957463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0729" y="994416"/>
            <a:ext cx="6172200" cy="487362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b="1">
                <a:ea typeface="+mn-lt"/>
                <a:cs typeface="+mn-lt"/>
              </a:rPr>
              <a:t>墨西哥料理資源</a:t>
            </a:r>
            <a:endParaRPr lang="zh-TW" altLang="en-US"/>
          </a:p>
          <a:p>
            <a:pPr lvl="1"/>
            <a:r>
              <a:rPr lang="zh-TW" dirty="0">
                <a:ea typeface="+mn-lt"/>
                <a:cs typeface="+mn-lt"/>
                <a:hlinkClick r:id="rId2"/>
              </a:rPr>
              <a:t>https://www.mexicanplease.com/</a:t>
            </a:r>
            <a:endParaRPr lang="zh-TW"/>
          </a:p>
          <a:p>
            <a:pPr lvl="1"/>
            <a:r>
              <a:rPr lang="zh-TW" dirty="0">
                <a:ea typeface="+mn-lt"/>
                <a:cs typeface="+mn-lt"/>
                <a:hlinkClick r:id="rId3"/>
              </a:rPr>
              <a:t>https://www.bonappetit.com/recipes/mexican</a:t>
            </a:r>
            <a:endParaRPr lang="zh-TW"/>
          </a:p>
          <a:p>
            <a:r>
              <a:rPr lang="zh-TW" b="1">
                <a:ea typeface="+mn-lt"/>
                <a:cs typeface="+mn-lt"/>
              </a:rPr>
              <a:t>餐車經營參考</a:t>
            </a:r>
            <a:endParaRPr lang="zh-TW" altLang="en-US" dirty="0">
              <a:ea typeface="新細明體"/>
            </a:endParaRPr>
          </a:p>
          <a:p>
            <a:pPr lvl="1"/>
            <a:r>
              <a:rPr lang="zh-TW" dirty="0">
                <a:ea typeface="+mn-lt"/>
                <a:cs typeface="+mn-lt"/>
                <a:hlinkClick r:id="rId4"/>
              </a:rPr>
              <a:t>https://tacofoodtruck.com/</a:t>
            </a:r>
            <a:endParaRPr lang="zh-TW"/>
          </a:p>
          <a:p>
            <a:pPr lvl="1"/>
            <a:r>
              <a:rPr lang="zh-TW" dirty="0">
                <a:ea typeface="+mn-lt"/>
                <a:cs typeface="+mn-lt"/>
                <a:hlinkClick r:id="rId5"/>
              </a:rPr>
              <a:t>https://www.foodtruckoperator.com/articles/6-tips-for-starting-a-mexican-food-truck</a:t>
            </a:r>
            <a:endParaRPr lang="zh-TW"/>
          </a:p>
        </p:txBody>
      </p:sp>
      <p:sp>
        <p:nvSpPr>
          <p:cNvPr id="9" name="文字版面配置區 3">
            <a:extLst>
              <a:ext uri="{FF2B5EF4-FFF2-40B4-BE49-F238E27FC236}">
                <a16:creationId xmlns:a16="http://schemas.microsoft.com/office/drawing/2014/main" id="{557BDFA9-3D8B-DDB6-C5A4-238FA9ABF055}"/>
              </a:ext>
            </a:extLst>
          </p:cNvPr>
          <p:cNvSpPr txBox="1">
            <a:spLocks/>
          </p:cNvSpPr>
          <p:nvPr/>
        </p:nvSpPr>
        <p:spPr>
          <a:xfrm>
            <a:off x="630852" y="1787013"/>
            <a:ext cx="1953496" cy="40696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TW" sz="2000" b="1">
                <a:solidFill>
                  <a:srgbClr val="000000"/>
                </a:solidFill>
                <a:latin typeface="Aptos"/>
                <a:ea typeface="新細明體"/>
              </a:rPr>
              <a:t>創業動機</a:t>
            </a:r>
            <a:endParaRPr lang="zh-TW"/>
          </a:p>
          <a:p>
            <a:pPr algn="ctr">
              <a:lnSpc>
                <a:spcPct val="150000"/>
              </a:lnSpc>
            </a:pPr>
            <a:r>
              <a:rPr lang="zh-TW" sz="2000" b="1">
                <a:latin typeface="Aptos"/>
                <a:ea typeface="新細明體"/>
              </a:rPr>
              <a:t>產品概念圖</a:t>
            </a:r>
          </a:p>
          <a:p>
            <a:pPr algn="ctr">
              <a:lnSpc>
                <a:spcPct val="150000"/>
              </a:lnSpc>
            </a:pPr>
            <a:r>
              <a:rPr lang="zh-TW" sz="2000" b="1">
                <a:latin typeface="Aptos"/>
                <a:ea typeface="新細明體"/>
              </a:rPr>
              <a:t>產品生命週期</a:t>
            </a:r>
          </a:p>
          <a:p>
            <a:pPr algn="ctr">
              <a:lnSpc>
                <a:spcPct val="150000"/>
              </a:lnSpc>
            </a:pPr>
            <a:r>
              <a:rPr lang="zh-TW" sz="2000" b="1">
                <a:latin typeface="Aptos"/>
                <a:ea typeface="新細明體"/>
              </a:rPr>
              <a:t>特性要因分析</a:t>
            </a:r>
          </a:p>
          <a:p>
            <a:pPr algn="ctr">
              <a:lnSpc>
                <a:spcPct val="150000"/>
              </a:lnSpc>
            </a:pPr>
            <a:r>
              <a:rPr lang="zh-TW" sz="2000" b="1">
                <a:latin typeface="Aptos"/>
                <a:ea typeface="新細明體"/>
              </a:rPr>
              <a:t>SWOT分析</a:t>
            </a:r>
          </a:p>
          <a:p>
            <a:pPr algn="ctr">
              <a:lnSpc>
                <a:spcPct val="150000"/>
              </a:lnSpc>
            </a:pPr>
            <a:r>
              <a:rPr lang="zh-TW" sz="2000" b="1">
                <a:latin typeface="Aptos"/>
                <a:ea typeface="新細明體"/>
              </a:rPr>
              <a:t>結論</a:t>
            </a:r>
          </a:p>
          <a:p>
            <a:pPr algn="ctr">
              <a:lnSpc>
                <a:spcPct val="150000"/>
              </a:lnSpc>
            </a:pPr>
            <a:r>
              <a:rPr lang="zh-TW" sz="2000" b="1">
                <a:latin typeface="Aptos"/>
                <a:ea typeface="新細明體"/>
              </a:rPr>
              <a:t>參考資料</a:t>
            </a:r>
          </a:p>
          <a:p>
            <a:endParaRPr lang="zh-TW" altLang="en-US" dirty="0"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0088489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寬螢幕</PresentationFormat>
  <Paragraphs>0</Paragraphs>
  <Slides>13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14" baseType="lpstr">
      <vt:lpstr>Office 佈景主題</vt:lpstr>
      <vt:lpstr> 創業概論專題報告  墨西哥料理餐車</vt:lpstr>
      <vt:lpstr>目錄</vt:lpstr>
      <vt:lpstr>壹、 創業動機</vt:lpstr>
      <vt:lpstr>貳、 產品概念圖</vt:lpstr>
      <vt:lpstr>參、 產品生命週期</vt:lpstr>
      <vt:lpstr>肆、 特性要因分析</vt:lpstr>
      <vt:lpstr>肆、 特性要因分析</vt:lpstr>
      <vt:lpstr>肆、 特性要因分析</vt:lpstr>
      <vt:lpstr>肆、 特性要因分析</vt:lpstr>
      <vt:lpstr>肆、 特性要因分析</vt:lpstr>
      <vt:lpstr>伍、 SWOT分析</vt:lpstr>
      <vt:lpstr>陸、 結論</vt:lpstr>
      <vt:lpstr>柒、 參考資料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608</cp:revision>
  <dcterms:created xsi:type="dcterms:W3CDTF">2025-05-10T05:53:02Z</dcterms:created>
  <dcterms:modified xsi:type="dcterms:W3CDTF">2025-09-05T05:29:31Z</dcterms:modified>
</cp:coreProperties>
</file>